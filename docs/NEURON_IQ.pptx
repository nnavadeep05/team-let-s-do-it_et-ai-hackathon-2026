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Plants run on knowledge that's scattered across documents and locked in people's heads. NEURON IQ is the brain that unifies it and reasons over it. State the tagline, then go straight into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Land the third hardest. ADD A VERIFIED 2024-2025 STATISTIC for downtime cost per minute and the share of operational knowledge that is undocumented, with the source on-slide,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whitespace: everyone will build retrieval. The win is reasoning across the whole knowledge base and proving every claim. This sets up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then the four pillars. Emphasize Connect and Reason — that is the part competitors won't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product and run docs/15-demo-script.md end to end. Keep narration tight; let the screen do the work. Have the cached fallback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judges remember. The contradiction is real and falls out of the graph during the demo. Catching it prevents a real maintenance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every box. Hit the three differentiating words: multimodal (reads diagrams), graph-augmented RAG, and 8 agents. Mention citations + confidence as the trust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Business-Impact slide. The point is the new KPI: a plant can finally see and prioritize its knowledge gaps, weighted by asset criticality.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outcome to money or time. REPLACE with measured, cited figures where you have them (e.g. RCA hours saved, downtime avoided) before the final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two questions judges always ask: does it scale, and can we trust it. Stateless services scale out; every answer is provenanced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Today we unify and reason over knowledge; next we predict failures before they happen. End on the one-line vision and move to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demo outcome in one breath, thank them, and open for questions. Have the architecture and the contradiction slide ready to jump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0881360" y="640080"/>
            <a:ext cx="146304" cy="146304"/>
          </a:xfrm>
          <a:prstGeom prst="ellipse">
            <a:avLst/>
          </a:prstGeom>
          <a:solidFill>
            <a:srgbClr val="22D3EE">
              <a:alpha val="45000"/>
            </a:srgbClr>
          </a:solidFill>
          <a:ln/>
        </p:spPr>
      </p:sp>
      <p:sp>
        <p:nvSpPr>
          <p:cNvPr id="3" name="Shape 1"/>
          <p:cNvSpPr/>
          <p:nvPr/>
        </p:nvSpPr>
        <p:spPr>
          <a:xfrm>
            <a:off x="11521440" y="1188720"/>
            <a:ext cx="91440" cy="91440"/>
          </a:xfrm>
          <a:prstGeom prst="ellipse">
            <a:avLst/>
          </a:prstGeom>
          <a:solidFill>
            <a:srgbClr val="22D3EE">
              <a:alpha val="45000"/>
            </a:srgbClr>
          </a:solidFill>
          <a:ln/>
        </p:spPr>
      </p:sp>
      <p:sp>
        <p:nvSpPr>
          <p:cNvPr id="4" name="Shape 2"/>
          <p:cNvSpPr/>
          <p:nvPr/>
        </p:nvSpPr>
        <p:spPr>
          <a:xfrm>
            <a:off x="10424160" y="1371600"/>
            <a:ext cx="91440" cy="91440"/>
          </a:xfrm>
          <a:prstGeom prst="ellipse">
            <a:avLst/>
          </a:prstGeom>
          <a:solidFill>
            <a:srgbClr val="22D3EE">
              <a:alpha val="45000"/>
            </a:srgbClr>
          </a:solidFill>
          <a:ln/>
        </p:spPr>
      </p:sp>
      <p:sp>
        <p:nvSpPr>
          <p:cNvPr id="5" name="Shape 3"/>
          <p:cNvSpPr/>
          <p:nvPr/>
        </p:nvSpPr>
        <p:spPr>
          <a:xfrm>
            <a:off x="11155680" y="1920240"/>
            <a:ext cx="146304" cy="146304"/>
          </a:xfrm>
          <a:prstGeom prst="ellipse">
            <a:avLst/>
          </a:prstGeom>
          <a:solidFill>
            <a:srgbClr val="22D3EE">
              <a:alpha val="45000"/>
            </a:srgbClr>
          </a:solidFill>
          <a:ln/>
        </p:spPr>
      </p:sp>
      <p:sp>
        <p:nvSpPr>
          <p:cNvPr id="6" name="Shape 4"/>
          <p:cNvSpPr/>
          <p:nvPr/>
        </p:nvSpPr>
        <p:spPr>
          <a:xfrm>
            <a:off x="9966960" y="914400"/>
            <a:ext cx="91440" cy="91440"/>
          </a:xfrm>
          <a:prstGeom prst="ellipse">
            <a:avLst/>
          </a:prstGeom>
          <a:solidFill>
            <a:srgbClr val="22D3EE">
              <a:alpha val="45000"/>
            </a:srgbClr>
          </a:solidFill>
          <a:ln/>
        </p:spPr>
      </p:sp>
      <p:sp>
        <p:nvSpPr>
          <p:cNvPr id="7" name="Shape 5"/>
          <p:cNvSpPr/>
          <p:nvPr/>
        </p:nvSpPr>
        <p:spPr>
          <a:xfrm>
            <a:off x="11704320" y="731520"/>
            <a:ext cx="91440" cy="91440"/>
          </a:xfrm>
          <a:prstGeom prst="ellipse">
            <a:avLst/>
          </a:prstGeom>
          <a:solidFill>
            <a:srgbClr val="22D3EE">
              <a:alpha val="45000"/>
            </a:srgbClr>
          </a:solidFill>
          <a:ln/>
        </p:spPr>
      </p:sp>
      <p:sp>
        <p:nvSpPr>
          <p:cNvPr id="8" name="Shape 6"/>
          <p:cNvSpPr/>
          <p:nvPr/>
        </p:nvSpPr>
        <p:spPr>
          <a:xfrm>
            <a:off x="10698480" y="2011680"/>
            <a:ext cx="146304" cy="146304"/>
          </a:xfrm>
          <a:prstGeom prst="ellipse">
            <a:avLst/>
          </a:prstGeom>
          <a:solidFill>
            <a:srgbClr val="22D3EE">
              <a:alpha val="45000"/>
            </a:srgbClr>
          </a:solidFill>
          <a:ln/>
        </p:spPr>
      </p:sp>
      <p:sp>
        <p:nvSpPr>
          <p:cNvPr id="9" name="Shape 7"/>
          <p:cNvSpPr/>
          <p:nvPr/>
        </p:nvSpPr>
        <p:spPr>
          <a:xfrm>
            <a:off x="10881360" y="713232"/>
            <a:ext cx="640080" cy="475488"/>
          </a:xfrm>
          <a:prstGeom prst="line">
            <a:avLst/>
          </a:prstGeom>
          <a:noFill/>
          <a:ln w="9525">
            <a:solidFill>
              <a:srgbClr val="22D3EE">
                <a:alpha val="30000"/>
              </a:srgbClr>
            </a:solidFill>
            <a:prstDash val="solid"/>
          </a:ln>
        </p:spPr>
      </p:sp>
      <p:sp>
        <p:nvSpPr>
          <p:cNvPr id="10" name="Shape 8"/>
          <p:cNvSpPr/>
          <p:nvPr/>
        </p:nvSpPr>
        <p:spPr>
          <a:xfrm>
            <a:off x="10881360" y="713232"/>
            <a:ext cx="-457200" cy="658368"/>
          </a:xfrm>
          <a:prstGeom prst="line">
            <a:avLst/>
          </a:prstGeom>
          <a:noFill/>
          <a:ln w="9525">
            <a:solidFill>
              <a:srgbClr val="22D3EE">
                <a:alpha val="30000"/>
              </a:srgbClr>
            </a:solidFill>
            <a:prstDash val="solid"/>
          </a:ln>
        </p:spPr>
      </p:sp>
      <p:sp>
        <p:nvSpPr>
          <p:cNvPr id="11" name="Shape 9"/>
          <p:cNvSpPr/>
          <p:nvPr/>
        </p:nvSpPr>
        <p:spPr>
          <a:xfrm>
            <a:off x="10424160" y="1371600"/>
            <a:ext cx="731520" cy="548640"/>
          </a:xfrm>
          <a:prstGeom prst="line">
            <a:avLst/>
          </a:prstGeom>
          <a:noFill/>
          <a:ln w="9525">
            <a:solidFill>
              <a:srgbClr val="22D3EE">
                <a:alpha val="30000"/>
              </a:srgbClr>
            </a:solidFill>
            <a:prstDash val="solid"/>
          </a:ln>
        </p:spPr>
      </p:sp>
      <p:sp>
        <p:nvSpPr>
          <p:cNvPr id="12" name="Shape 10"/>
          <p:cNvSpPr/>
          <p:nvPr/>
        </p:nvSpPr>
        <p:spPr>
          <a:xfrm>
            <a:off x="11521440" y="1188720"/>
            <a:ext cx="-365760" cy="731520"/>
          </a:xfrm>
          <a:prstGeom prst="line">
            <a:avLst/>
          </a:prstGeom>
          <a:noFill/>
          <a:ln w="9525">
            <a:solidFill>
              <a:srgbClr val="22D3EE">
                <a:alpha val="30000"/>
              </a:srgbClr>
            </a:solidFill>
            <a:prstDash val="solid"/>
          </a:ln>
        </p:spPr>
      </p:sp>
      <p:sp>
        <p:nvSpPr>
          <p:cNvPr id="13" name="Shape 11"/>
          <p:cNvSpPr/>
          <p:nvPr/>
        </p:nvSpPr>
        <p:spPr>
          <a:xfrm>
            <a:off x="9966960" y="960120"/>
            <a:ext cx="914400" cy="-246888"/>
          </a:xfrm>
          <a:prstGeom prst="line">
            <a:avLst/>
          </a:prstGeom>
          <a:noFill/>
          <a:ln w="9525">
            <a:solidFill>
              <a:srgbClr val="22D3EE">
                <a:alpha val="30000"/>
              </a:srgbClr>
            </a:solidFill>
            <a:prstDash val="solid"/>
          </a:ln>
        </p:spPr>
      </p:sp>
      <p:sp>
        <p:nvSpPr>
          <p:cNvPr id="14" name="Shape 12"/>
          <p:cNvSpPr/>
          <p:nvPr/>
        </p:nvSpPr>
        <p:spPr>
          <a:xfrm>
            <a:off x="548640" y="1783080"/>
            <a:ext cx="914400" cy="914400"/>
          </a:xfrm>
          <a:prstGeom prst="ellipse">
            <a:avLst/>
          </a:prstGeom>
          <a:solidFill>
            <a:srgbClr val="0E2230"/>
          </a:solidFill>
          <a:ln w="15875">
            <a:solidFill>
              <a:srgbClr val="22D3EE"/>
            </a:solidFill>
            <a:prstDash val="solid"/>
          </a:ln>
        </p:spPr>
      </p:sp>
      <p:pic>
        <p:nvPicPr>
          <p:cNvPr id="15" name="Image 0" descr="preencoded.png">    </p:cNvPr>
          <p:cNvPicPr>
            <a:picLocks noChangeAspect="1"/>
          </p:cNvPicPr>
          <p:nvPr/>
        </p:nvPicPr>
        <p:blipFill>
          <a:blip r:embed="rId1"/>
          <a:stretch>
            <a:fillRect/>
          </a:stretch>
        </p:blipFill>
        <p:spPr>
          <a:xfrm>
            <a:off x="768096" y="2002536"/>
            <a:ext cx="475488" cy="475488"/>
          </a:xfrm>
          <a:prstGeom prst="rect">
            <a:avLst/>
          </a:prstGeom>
        </p:spPr>
      </p:pic>
      <p:sp>
        <p:nvSpPr>
          <p:cNvPr id="16" name="Text 13"/>
          <p:cNvSpPr/>
          <p:nvPr/>
        </p:nvSpPr>
        <p:spPr>
          <a:xfrm>
            <a:off x="1627632" y="1737360"/>
            <a:ext cx="7772400" cy="1005840"/>
          </a:xfrm>
          <a:prstGeom prst="rect">
            <a:avLst/>
          </a:prstGeom>
          <a:noFill/>
          <a:ln/>
        </p:spPr>
        <p:txBody>
          <a:bodyPr wrap="square" lIns="0" tIns="0" rIns="0" bIns="0" rtlCol="0" anchor="ctr"/>
          <a:lstStyle/>
          <a:p>
            <a:pPr indent="0" marL="0">
              <a:buNone/>
            </a:pPr>
            <a:r>
              <a:rPr lang="en-US" sz="5400" b="1" dirty="0">
                <a:solidFill>
                  <a:srgbClr val="E6EDF3"/>
                </a:solidFill>
                <a:latin typeface="Arial" pitchFamily="34" charset="0"/>
                <a:ea typeface="Arial" pitchFamily="34" charset="-122"/>
                <a:cs typeface="Arial" pitchFamily="34" charset="-120"/>
              </a:rPr>
              <a:t>NEURON IQ</a:t>
            </a:r>
            <a:endParaRPr lang="en-US" sz="5400" dirty="0"/>
          </a:p>
        </p:txBody>
      </p:sp>
      <p:sp>
        <p:nvSpPr>
          <p:cNvPr id="17" name="Text 14"/>
          <p:cNvSpPr/>
          <p:nvPr/>
        </p:nvSpPr>
        <p:spPr>
          <a:xfrm>
            <a:off x="548640" y="2971800"/>
            <a:ext cx="10515600" cy="548640"/>
          </a:xfrm>
          <a:prstGeom prst="rect">
            <a:avLst/>
          </a:prstGeom>
          <a:noFill/>
          <a:ln/>
        </p:spPr>
        <p:txBody>
          <a:bodyPr wrap="square" lIns="0" tIns="0" rIns="0" bIns="0" rtlCol="0" anchor="ctr"/>
          <a:lstStyle/>
          <a:p>
            <a:pPr indent="0" marL="0">
              <a:buNone/>
            </a:pPr>
            <a:r>
              <a:rPr lang="en-US" sz="2500" i="1" dirty="0">
                <a:solidFill>
                  <a:srgbClr val="22D3EE"/>
                </a:solidFill>
                <a:latin typeface="Arial" pitchFamily="34" charset="0"/>
                <a:ea typeface="Arial" pitchFamily="34" charset="-122"/>
                <a:cs typeface="Arial" pitchFamily="34" charset="-120"/>
              </a:rPr>
              <a:t>Every Answer. Every Asset. Always Connected.</a:t>
            </a:r>
            <a:endParaRPr lang="en-US" sz="2500" dirty="0"/>
          </a:p>
        </p:txBody>
      </p:sp>
      <p:sp>
        <p:nvSpPr>
          <p:cNvPr id="18" name="Text 15"/>
          <p:cNvSpPr/>
          <p:nvPr/>
        </p:nvSpPr>
        <p:spPr>
          <a:xfrm>
            <a:off x="548640" y="3611880"/>
            <a:ext cx="10515600" cy="457200"/>
          </a:xfrm>
          <a:prstGeom prst="rect">
            <a:avLst/>
          </a:prstGeom>
          <a:noFill/>
          <a:ln/>
        </p:spPr>
        <p:txBody>
          <a:bodyPr wrap="square" lIns="0" tIns="0" rIns="0" bIns="0" rtlCol="0" anchor="ctr"/>
          <a:lstStyle/>
          <a:p>
            <a:pPr indent="0" marL="0">
              <a:buNone/>
            </a:pPr>
            <a:r>
              <a:rPr lang="en-US" sz="1800" dirty="0">
                <a:solidFill>
                  <a:srgbClr val="9FB0C0"/>
                </a:solidFill>
                <a:latin typeface="Arial" pitchFamily="34" charset="0"/>
                <a:ea typeface="Arial" pitchFamily="34" charset="-122"/>
                <a:cs typeface="Arial" pitchFamily="34" charset="-120"/>
              </a:rPr>
              <a:t>The Industrial Knowledge Intelligence Platform</a:t>
            </a:r>
            <a:endParaRPr lang="en-US" sz="1800" dirty="0"/>
          </a:p>
        </p:txBody>
      </p:sp>
      <p:sp>
        <p:nvSpPr>
          <p:cNvPr id="19" name="Text 16"/>
          <p:cNvSpPr/>
          <p:nvPr/>
        </p:nvSpPr>
        <p:spPr>
          <a:xfrm>
            <a:off x="548640" y="5806440"/>
            <a:ext cx="7315200" cy="365760"/>
          </a:xfrm>
          <a:prstGeom prst="rect">
            <a:avLst/>
          </a:prstGeom>
          <a:noFill/>
          <a:ln/>
        </p:spPr>
        <p:txBody>
          <a:bodyPr wrap="square" lIns="0" tIns="0" rIns="0" bIns="0" rtlCol="0" anchor="ctr"/>
          <a:lstStyle/>
          <a:p>
            <a:pPr indent="0" marL="0">
              <a:buNone/>
            </a:pPr>
            <a:r>
              <a:rPr lang="en-US" sz="1800" dirty="0">
                <a:solidFill>
                  <a:srgbClr val="9FB0C0"/>
                </a:solidFill>
                <a:latin typeface="Arial" pitchFamily="34" charset="0"/>
                <a:ea typeface="Arial" pitchFamily="34" charset="-122"/>
                <a:cs typeface="Arial" pitchFamily="34" charset="-120"/>
              </a:rPr>
              <a:t>Team:  </a:t>
            </a:r>
            <a:pPr indent="0" marL="0">
              <a:buNone/>
            </a:pPr>
            <a:r>
              <a:rPr lang="en-US" sz="1800" b="1" dirty="0">
                <a:solidFill>
                  <a:srgbClr val="E6EDF3"/>
                </a:solidFill>
                <a:latin typeface="Arial" pitchFamily="34" charset="0"/>
                <a:ea typeface="Arial" pitchFamily="34" charset="-122"/>
                <a:cs typeface="Arial" pitchFamily="34" charset="-120"/>
              </a:rPr>
              <a:t>Let's Do It</a:t>
            </a:r>
            <a:endParaRPr lang="en-US" sz="1800" dirty="0"/>
          </a:p>
        </p:txBody>
      </p:sp>
      <p:sp>
        <p:nvSpPr>
          <p:cNvPr id="20" name="Text 17"/>
          <p:cNvSpPr/>
          <p:nvPr/>
        </p:nvSpPr>
        <p:spPr>
          <a:xfrm>
            <a:off x="548640" y="6217920"/>
            <a:ext cx="10058400" cy="320040"/>
          </a:xfrm>
          <a:prstGeom prst="rect">
            <a:avLst/>
          </a:prstGeom>
          <a:noFill/>
          <a:ln/>
        </p:spPr>
        <p:txBody>
          <a:bodyPr wrap="square" lIns="0" tIns="0" rIns="0" bIns="0" rtlCol="0" anchor="ctr"/>
          <a:lstStyle/>
          <a:p>
            <a:pPr indent="0" marL="0">
              <a:buNone/>
            </a:pPr>
            <a:r>
              <a:rPr lang="en-US" sz="1300" dirty="0">
                <a:solidFill>
                  <a:srgbClr val="6B7C8C"/>
                </a:solidFill>
                <a:latin typeface="Arial" pitchFamily="34" charset="0"/>
                <a:ea typeface="Arial" pitchFamily="34" charset="-122"/>
                <a:cs typeface="Arial" pitchFamily="34" charset="-120"/>
              </a:rPr>
              <a:t>ET AI Hackathon 2026  ·  AI for Industrial Knowledge Intelligence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THE PROBLEM</a:t>
            </a:r>
            <a:endParaRPr lang="en-US" sz="1250" dirty="0"/>
          </a:p>
        </p:txBody>
      </p:sp>
      <p:sp>
        <p:nvSpPr>
          <p:cNvPr id="3" name="Text 1"/>
          <p:cNvSpPr/>
          <p:nvPr/>
        </p:nvSpPr>
        <p:spPr>
          <a:xfrm>
            <a:off x="548640" y="731520"/>
            <a:ext cx="11091672" cy="868680"/>
          </a:xfrm>
          <a:prstGeom prst="rect">
            <a:avLst/>
          </a:prstGeom>
          <a:noFill/>
          <a:ln/>
        </p:spPr>
        <p:txBody>
          <a:bodyPr wrap="square" lIns="0" tIns="0" rIns="0" bIns="0" rtlCol="0" anchor="t"/>
          <a:lstStyle/>
          <a:p>
            <a:pPr indent="0" marL="0">
              <a:buNone/>
            </a:pPr>
            <a:r>
              <a:rPr lang="en-US" sz="3300" b="1" dirty="0">
                <a:solidFill>
                  <a:srgbClr val="E6EDF3"/>
                </a:solidFill>
                <a:latin typeface="Arial" pitchFamily="34" charset="0"/>
                <a:ea typeface="Arial" pitchFamily="34" charset="-122"/>
                <a:cs typeface="Arial" pitchFamily="34" charset="-120"/>
              </a:rPr>
              <a:t>Plants are drowning in knowledge they can't use</a:t>
            </a:r>
            <a:endParaRPr lang="en-US" sz="3300" dirty="0"/>
          </a:p>
        </p:txBody>
      </p:sp>
      <p:sp>
        <p:nvSpPr>
          <p:cNvPr id="4" name="Shape 2"/>
          <p:cNvSpPr/>
          <p:nvPr/>
        </p:nvSpPr>
        <p:spPr>
          <a:xfrm>
            <a:off x="548640" y="1828800"/>
            <a:ext cx="3511296" cy="3063240"/>
          </a:xfrm>
          <a:prstGeom prst="roundRect">
            <a:avLst>
              <a:gd name="adj" fmla="val 298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868680" y="2194560"/>
            <a:ext cx="777240" cy="777240"/>
          </a:xfrm>
          <a:prstGeom prst="ellipse">
            <a:avLst/>
          </a:prstGeom>
          <a:solidFill>
            <a:srgbClr val="0E2230"/>
          </a:solidFill>
          <a:ln w="15875">
            <a:solidFill>
              <a:srgbClr val="22D3EE"/>
            </a:solidFill>
            <a:prstDash val="solid"/>
          </a:ln>
        </p:spPr>
      </p:sp>
      <p:pic>
        <p:nvPicPr>
          <p:cNvPr id="6" name="Image 0" descr="preencoded.png">    </p:cNvPr>
          <p:cNvPicPr>
            <a:picLocks noChangeAspect="1"/>
          </p:cNvPicPr>
          <p:nvPr/>
        </p:nvPicPr>
        <p:blipFill>
          <a:blip r:embed="rId1"/>
          <a:stretch>
            <a:fillRect/>
          </a:stretch>
        </p:blipFill>
        <p:spPr>
          <a:xfrm>
            <a:off x="1055218" y="2381098"/>
            <a:ext cx="404165" cy="404165"/>
          </a:xfrm>
          <a:prstGeom prst="rect">
            <a:avLst/>
          </a:prstGeom>
        </p:spPr>
      </p:pic>
      <p:sp>
        <p:nvSpPr>
          <p:cNvPr id="7" name="Text 4"/>
          <p:cNvSpPr/>
          <p:nvPr/>
        </p:nvSpPr>
        <p:spPr>
          <a:xfrm>
            <a:off x="868680" y="3154680"/>
            <a:ext cx="2871216" cy="457200"/>
          </a:xfrm>
          <a:prstGeom prst="rect">
            <a:avLst/>
          </a:prstGeom>
          <a:noFill/>
          <a:ln/>
        </p:spPr>
        <p:txBody>
          <a:bodyPr wrap="square" lIns="0" tIns="0" rIns="0" bIns="0" rtlCol="0" anchor="ctr"/>
          <a:lstStyle/>
          <a:p>
            <a:pPr indent="0" marL="0">
              <a:buNone/>
            </a:pPr>
            <a:r>
              <a:rPr lang="en-US" sz="2000" b="1" dirty="0">
                <a:solidFill>
                  <a:srgbClr val="E6EDF3"/>
                </a:solidFill>
                <a:latin typeface="Arial" pitchFamily="34" charset="0"/>
                <a:ea typeface="Arial" pitchFamily="34" charset="-122"/>
                <a:cs typeface="Arial" pitchFamily="34" charset="-120"/>
              </a:rPr>
              <a:t>Knowledge scattered</a:t>
            </a:r>
            <a:endParaRPr lang="en-US" sz="2000" dirty="0"/>
          </a:p>
        </p:txBody>
      </p:sp>
      <p:sp>
        <p:nvSpPr>
          <p:cNvPr id="8" name="Text 5"/>
          <p:cNvSpPr/>
          <p:nvPr/>
        </p:nvSpPr>
        <p:spPr>
          <a:xfrm>
            <a:off x="868680" y="3703320"/>
            <a:ext cx="2962656" cy="100584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P&amp;IDs, SOPs, work orders, manuals, and emails sit siloed across systems and formats.</a:t>
            </a:r>
            <a:endParaRPr lang="en-US" sz="1400" dirty="0"/>
          </a:p>
        </p:txBody>
      </p:sp>
      <p:sp>
        <p:nvSpPr>
          <p:cNvPr id="9" name="Shape 6"/>
          <p:cNvSpPr/>
          <p:nvPr/>
        </p:nvSpPr>
        <p:spPr>
          <a:xfrm>
            <a:off x="4343400" y="1828800"/>
            <a:ext cx="3511296" cy="3063240"/>
          </a:xfrm>
          <a:prstGeom prst="roundRect">
            <a:avLst>
              <a:gd name="adj" fmla="val 298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0" name="Shape 7"/>
          <p:cNvSpPr/>
          <p:nvPr/>
        </p:nvSpPr>
        <p:spPr>
          <a:xfrm>
            <a:off x="4663440" y="2194560"/>
            <a:ext cx="777240" cy="777240"/>
          </a:xfrm>
          <a:prstGeom prst="ellipse">
            <a:avLst/>
          </a:prstGeom>
          <a:solidFill>
            <a:srgbClr val="0E2230"/>
          </a:solidFill>
          <a:ln w="15875">
            <a:solidFill>
              <a:srgbClr val="22D3EE"/>
            </a:solidFill>
            <a:prstDash val="solid"/>
          </a:ln>
        </p:spPr>
      </p:sp>
      <p:pic>
        <p:nvPicPr>
          <p:cNvPr id="11" name="Image 1" descr="preencoded.png">    </p:cNvPr>
          <p:cNvPicPr>
            <a:picLocks noChangeAspect="1"/>
          </p:cNvPicPr>
          <p:nvPr/>
        </p:nvPicPr>
        <p:blipFill>
          <a:blip r:embed="rId2"/>
          <a:stretch>
            <a:fillRect/>
          </a:stretch>
        </p:blipFill>
        <p:spPr>
          <a:xfrm>
            <a:off x="4849978" y="2381098"/>
            <a:ext cx="404165" cy="404165"/>
          </a:xfrm>
          <a:prstGeom prst="rect">
            <a:avLst/>
          </a:prstGeom>
        </p:spPr>
      </p:pic>
      <p:sp>
        <p:nvSpPr>
          <p:cNvPr id="12" name="Text 8"/>
          <p:cNvSpPr/>
          <p:nvPr/>
        </p:nvSpPr>
        <p:spPr>
          <a:xfrm>
            <a:off x="4663440" y="3154680"/>
            <a:ext cx="2871216" cy="457200"/>
          </a:xfrm>
          <a:prstGeom prst="rect">
            <a:avLst/>
          </a:prstGeom>
          <a:noFill/>
          <a:ln/>
        </p:spPr>
        <p:txBody>
          <a:bodyPr wrap="square" lIns="0" tIns="0" rIns="0" bIns="0" rtlCol="0" anchor="ctr"/>
          <a:lstStyle/>
          <a:p>
            <a:pPr indent="0" marL="0">
              <a:buNone/>
            </a:pPr>
            <a:r>
              <a:rPr lang="en-US" sz="2000" b="1" dirty="0">
                <a:solidFill>
                  <a:srgbClr val="E6EDF3"/>
                </a:solidFill>
                <a:latin typeface="Arial" pitchFamily="34" charset="0"/>
                <a:ea typeface="Arial" pitchFamily="34" charset="-122"/>
                <a:cs typeface="Arial" pitchFamily="34" charset="-120"/>
              </a:rPr>
              <a:t>Experts retiring</a:t>
            </a:r>
            <a:endParaRPr lang="en-US" sz="2000" dirty="0"/>
          </a:p>
        </p:txBody>
      </p:sp>
      <p:sp>
        <p:nvSpPr>
          <p:cNvPr id="13" name="Text 9"/>
          <p:cNvSpPr/>
          <p:nvPr/>
        </p:nvSpPr>
        <p:spPr>
          <a:xfrm>
            <a:off x="4663440" y="3703320"/>
            <a:ext cx="2962656" cy="100584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Decades of operational know-how walk out the door, undocumented and unrecoverable.</a:t>
            </a:r>
            <a:endParaRPr lang="en-US" sz="1400" dirty="0"/>
          </a:p>
        </p:txBody>
      </p:sp>
      <p:sp>
        <p:nvSpPr>
          <p:cNvPr id="14" name="Shape 10"/>
          <p:cNvSpPr/>
          <p:nvPr/>
        </p:nvSpPr>
        <p:spPr>
          <a:xfrm>
            <a:off x="8138160" y="1828800"/>
            <a:ext cx="3511296" cy="3063240"/>
          </a:xfrm>
          <a:prstGeom prst="roundRect">
            <a:avLst>
              <a:gd name="adj" fmla="val 298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5" name="Shape 11"/>
          <p:cNvSpPr/>
          <p:nvPr/>
        </p:nvSpPr>
        <p:spPr>
          <a:xfrm>
            <a:off x="8458200" y="2194560"/>
            <a:ext cx="777240" cy="777240"/>
          </a:xfrm>
          <a:prstGeom prst="ellipse">
            <a:avLst/>
          </a:prstGeom>
          <a:solidFill>
            <a:srgbClr val="2A2010"/>
          </a:solidFill>
          <a:ln w="15875">
            <a:solidFill>
              <a:srgbClr val="F59E0B"/>
            </a:solidFill>
            <a:prstDash val="solid"/>
          </a:ln>
        </p:spPr>
      </p:sp>
      <p:pic>
        <p:nvPicPr>
          <p:cNvPr id="16" name="Image 2" descr="preencoded.png">    </p:cNvPr>
          <p:cNvPicPr>
            <a:picLocks noChangeAspect="1"/>
          </p:cNvPicPr>
          <p:nvPr/>
        </p:nvPicPr>
        <p:blipFill>
          <a:blip r:embed="rId3"/>
          <a:stretch>
            <a:fillRect/>
          </a:stretch>
        </p:blipFill>
        <p:spPr>
          <a:xfrm>
            <a:off x="8644738" y="2381098"/>
            <a:ext cx="404165" cy="404165"/>
          </a:xfrm>
          <a:prstGeom prst="rect">
            <a:avLst/>
          </a:prstGeom>
        </p:spPr>
      </p:pic>
      <p:sp>
        <p:nvSpPr>
          <p:cNvPr id="17" name="Text 12"/>
          <p:cNvSpPr/>
          <p:nvPr/>
        </p:nvSpPr>
        <p:spPr>
          <a:xfrm>
            <a:off x="8458200" y="3154680"/>
            <a:ext cx="2871216" cy="457200"/>
          </a:xfrm>
          <a:prstGeom prst="rect">
            <a:avLst/>
          </a:prstGeom>
          <a:noFill/>
          <a:ln/>
        </p:spPr>
        <p:txBody>
          <a:bodyPr wrap="square" lIns="0" tIns="0" rIns="0" bIns="0" rtlCol="0" anchor="ctr"/>
          <a:lstStyle/>
          <a:p>
            <a:pPr indent="0" marL="0">
              <a:buNone/>
            </a:pPr>
            <a:r>
              <a:rPr lang="en-US" sz="2000" b="1" dirty="0">
                <a:solidFill>
                  <a:srgbClr val="E6EDF3"/>
                </a:solidFill>
                <a:latin typeface="Arial" pitchFamily="34" charset="0"/>
                <a:ea typeface="Arial" pitchFamily="34" charset="-122"/>
                <a:cs typeface="Arial" pitchFamily="34" charset="-120"/>
              </a:rPr>
              <a:t>Costly blind spots</a:t>
            </a:r>
            <a:endParaRPr lang="en-US" sz="2000" dirty="0"/>
          </a:p>
        </p:txBody>
      </p:sp>
      <p:sp>
        <p:nvSpPr>
          <p:cNvPr id="18" name="Text 13"/>
          <p:cNvSpPr/>
          <p:nvPr/>
        </p:nvSpPr>
        <p:spPr>
          <a:xfrm>
            <a:off x="8458200" y="3703320"/>
            <a:ext cx="2962656" cy="100584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Unplanned downtime and compliance gaps caused by answers no one can find in time.</a:t>
            </a:r>
            <a:endParaRPr lang="en-US" sz="1400" dirty="0"/>
          </a:p>
        </p:txBody>
      </p:sp>
      <p:sp>
        <p:nvSpPr>
          <p:cNvPr id="19" name="Shape 14"/>
          <p:cNvSpPr/>
          <p:nvPr/>
        </p:nvSpPr>
        <p:spPr>
          <a:xfrm>
            <a:off x="548640" y="5212080"/>
            <a:ext cx="11091672" cy="914400"/>
          </a:xfrm>
          <a:prstGeom prst="roundRect">
            <a:avLst>
              <a:gd name="adj" fmla="val 10000"/>
            </a:avLst>
          </a:prstGeom>
          <a:solidFill>
            <a:srgbClr val="121821"/>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0" name="Text 15"/>
          <p:cNvSpPr/>
          <p:nvPr/>
        </p:nvSpPr>
        <p:spPr>
          <a:xfrm>
            <a:off x="914400" y="5212080"/>
            <a:ext cx="10360152" cy="914400"/>
          </a:xfrm>
          <a:prstGeom prst="rect">
            <a:avLst/>
          </a:prstGeom>
          <a:noFill/>
          <a:ln/>
        </p:spPr>
        <p:txBody>
          <a:bodyPr wrap="square" lIns="0" tIns="0" rIns="0" bIns="0" rtlCol="0" anchor="ctr"/>
          <a:lstStyle/>
          <a:p>
            <a:pPr indent="0" marL="0">
              <a:buNone/>
            </a:pPr>
            <a:r>
              <a:rPr lang="en-US" sz="1600" i="1" dirty="0">
                <a:solidFill>
                  <a:srgbClr val="E6EDF3"/>
                </a:solidFill>
                <a:latin typeface="Arial" pitchFamily="34" charset="0"/>
                <a:ea typeface="Arial" pitchFamily="34" charset="-122"/>
                <a:cs typeface="Arial" pitchFamily="34" charset="-120"/>
              </a:rPr>
              <a:t>Minutes of unplanned downtime cost thousands — and the fix is usually buried in a document someone already wrote.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WHY TODAY'S TOOLS FALL SHORT</a:t>
            </a:r>
            <a:endParaRPr lang="en-US" sz="1250" dirty="0"/>
          </a:p>
        </p:txBody>
      </p:sp>
      <p:sp>
        <p:nvSpPr>
          <p:cNvPr id="3" name="Text 1"/>
          <p:cNvSpPr/>
          <p:nvPr/>
        </p:nvSpPr>
        <p:spPr>
          <a:xfrm>
            <a:off x="548640" y="731520"/>
            <a:ext cx="11091672" cy="868680"/>
          </a:xfrm>
          <a:prstGeom prst="rect">
            <a:avLst/>
          </a:prstGeom>
          <a:noFill/>
          <a:ln/>
        </p:spPr>
        <p:txBody>
          <a:bodyPr wrap="square" lIns="0" tIns="0" rIns="0" bIns="0" rtlCol="0" anchor="t"/>
          <a:lstStyle/>
          <a:p>
            <a:pPr indent="0" marL="0">
              <a:buNone/>
            </a:pPr>
            <a:r>
              <a:rPr lang="en-US" sz="3300" b="1" dirty="0">
                <a:solidFill>
                  <a:srgbClr val="E6EDF3"/>
                </a:solidFill>
                <a:latin typeface="Arial" pitchFamily="34" charset="0"/>
                <a:ea typeface="Arial" pitchFamily="34" charset="-122"/>
                <a:cs typeface="Arial" pitchFamily="34" charset="-120"/>
              </a:rPr>
              <a:t>Search and chatbots can't reason across your knowledge</a:t>
            </a:r>
            <a:endParaRPr lang="en-US" sz="3300" dirty="0"/>
          </a:p>
        </p:txBody>
      </p:sp>
      <p:sp>
        <p:nvSpPr>
          <p:cNvPr id="4" name="Shape 2"/>
          <p:cNvSpPr/>
          <p:nvPr/>
        </p:nvSpPr>
        <p:spPr>
          <a:xfrm>
            <a:off x="548640" y="1828800"/>
            <a:ext cx="3511296" cy="3063240"/>
          </a:xfrm>
          <a:prstGeom prst="roundRect">
            <a:avLst>
              <a:gd name="adj" fmla="val 298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868680" y="2194560"/>
            <a:ext cx="777240" cy="777240"/>
          </a:xfrm>
          <a:prstGeom prst="ellipse">
            <a:avLst/>
          </a:prstGeom>
          <a:solidFill>
            <a:srgbClr val="2A1416"/>
          </a:solidFill>
          <a:ln w="15875">
            <a:solidFill>
              <a:srgbClr val="EF4444"/>
            </a:solidFill>
            <a:prstDash val="solid"/>
          </a:ln>
        </p:spPr>
      </p:sp>
      <p:pic>
        <p:nvPicPr>
          <p:cNvPr id="6" name="Image 0" descr="preencoded.png">    </p:cNvPr>
          <p:cNvPicPr>
            <a:picLocks noChangeAspect="1"/>
          </p:cNvPicPr>
          <p:nvPr/>
        </p:nvPicPr>
        <p:blipFill>
          <a:blip r:embed="rId1"/>
          <a:stretch>
            <a:fillRect/>
          </a:stretch>
        </p:blipFill>
        <p:spPr>
          <a:xfrm>
            <a:off x="1055218" y="2381098"/>
            <a:ext cx="404165" cy="404165"/>
          </a:xfrm>
          <a:prstGeom prst="rect">
            <a:avLst/>
          </a:prstGeom>
        </p:spPr>
      </p:pic>
      <p:sp>
        <p:nvSpPr>
          <p:cNvPr id="7" name="Text 4"/>
          <p:cNvSpPr/>
          <p:nvPr/>
        </p:nvSpPr>
        <p:spPr>
          <a:xfrm>
            <a:off x="868680" y="3154680"/>
            <a:ext cx="2871216" cy="457200"/>
          </a:xfrm>
          <a:prstGeom prst="rect">
            <a:avLst/>
          </a:prstGeom>
          <a:noFill/>
          <a:ln/>
        </p:spPr>
        <p:txBody>
          <a:bodyPr wrap="square" lIns="0" tIns="0" rIns="0" bIns="0" rtlCol="0" anchor="ctr"/>
          <a:lstStyle/>
          <a:p>
            <a:pPr indent="0" marL="0">
              <a:buNone/>
            </a:pPr>
            <a:r>
              <a:rPr lang="en-US" sz="2000" b="1" dirty="0">
                <a:solidFill>
                  <a:srgbClr val="E6EDF3"/>
                </a:solidFill>
                <a:latin typeface="Arial" pitchFamily="34" charset="0"/>
                <a:ea typeface="Arial" pitchFamily="34" charset="-122"/>
                <a:cs typeface="Arial" pitchFamily="34" charset="-120"/>
              </a:rPr>
              <a:t>Keyword search</a:t>
            </a:r>
            <a:endParaRPr lang="en-US" sz="2000" dirty="0"/>
          </a:p>
        </p:txBody>
      </p:sp>
      <p:sp>
        <p:nvSpPr>
          <p:cNvPr id="8" name="Text 5"/>
          <p:cNvSpPr/>
          <p:nvPr/>
        </p:nvSpPr>
        <p:spPr>
          <a:xfrm>
            <a:off x="868680" y="3703320"/>
            <a:ext cx="2962656" cy="100584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Finds files, not answers. You still read and reconcile them yourself.</a:t>
            </a:r>
            <a:endParaRPr lang="en-US" sz="1400" dirty="0"/>
          </a:p>
        </p:txBody>
      </p:sp>
      <p:sp>
        <p:nvSpPr>
          <p:cNvPr id="9" name="Shape 6"/>
          <p:cNvSpPr/>
          <p:nvPr/>
        </p:nvSpPr>
        <p:spPr>
          <a:xfrm>
            <a:off x="4343400" y="1828800"/>
            <a:ext cx="3511296" cy="3063240"/>
          </a:xfrm>
          <a:prstGeom prst="roundRect">
            <a:avLst>
              <a:gd name="adj" fmla="val 298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0" name="Shape 7"/>
          <p:cNvSpPr/>
          <p:nvPr/>
        </p:nvSpPr>
        <p:spPr>
          <a:xfrm>
            <a:off x="4663440" y="2194560"/>
            <a:ext cx="777240" cy="777240"/>
          </a:xfrm>
          <a:prstGeom prst="ellipse">
            <a:avLst/>
          </a:prstGeom>
          <a:solidFill>
            <a:srgbClr val="2A1416"/>
          </a:solidFill>
          <a:ln w="15875">
            <a:solidFill>
              <a:srgbClr val="EF4444"/>
            </a:solidFill>
            <a:prstDash val="solid"/>
          </a:ln>
        </p:spPr>
      </p:sp>
      <p:pic>
        <p:nvPicPr>
          <p:cNvPr id="11" name="Image 1" descr="preencoded.png">    </p:cNvPr>
          <p:cNvPicPr>
            <a:picLocks noChangeAspect="1"/>
          </p:cNvPicPr>
          <p:nvPr/>
        </p:nvPicPr>
        <p:blipFill>
          <a:blip r:embed="rId2"/>
          <a:stretch>
            <a:fillRect/>
          </a:stretch>
        </p:blipFill>
        <p:spPr>
          <a:xfrm>
            <a:off x="4849978" y="2381098"/>
            <a:ext cx="404165" cy="404165"/>
          </a:xfrm>
          <a:prstGeom prst="rect">
            <a:avLst/>
          </a:prstGeom>
        </p:spPr>
      </p:pic>
      <p:sp>
        <p:nvSpPr>
          <p:cNvPr id="12" name="Text 8"/>
          <p:cNvSpPr/>
          <p:nvPr/>
        </p:nvSpPr>
        <p:spPr>
          <a:xfrm>
            <a:off x="4663440" y="3154680"/>
            <a:ext cx="2871216" cy="457200"/>
          </a:xfrm>
          <a:prstGeom prst="rect">
            <a:avLst/>
          </a:prstGeom>
          <a:noFill/>
          <a:ln/>
        </p:spPr>
        <p:txBody>
          <a:bodyPr wrap="square" lIns="0" tIns="0" rIns="0" bIns="0" rtlCol="0" anchor="ctr"/>
          <a:lstStyle/>
          <a:p>
            <a:pPr indent="0" marL="0">
              <a:buNone/>
            </a:pPr>
            <a:r>
              <a:rPr lang="en-US" sz="2000" b="1" dirty="0">
                <a:solidFill>
                  <a:srgbClr val="E6EDF3"/>
                </a:solidFill>
                <a:latin typeface="Arial" pitchFamily="34" charset="0"/>
                <a:ea typeface="Arial" pitchFamily="34" charset="-122"/>
                <a:cs typeface="Arial" pitchFamily="34" charset="-120"/>
              </a:rPr>
              <a:t>Chatbots / basic RAG</a:t>
            </a:r>
            <a:endParaRPr lang="en-US" sz="2000" dirty="0"/>
          </a:p>
        </p:txBody>
      </p:sp>
      <p:sp>
        <p:nvSpPr>
          <p:cNvPr id="13" name="Text 9"/>
          <p:cNvSpPr/>
          <p:nvPr/>
        </p:nvSpPr>
        <p:spPr>
          <a:xfrm>
            <a:off x="4663440" y="3703320"/>
            <a:ext cx="2962656" cy="100584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Answer one document at a time — and hallucinate when sources conflict.</a:t>
            </a:r>
            <a:endParaRPr lang="en-US" sz="1400" dirty="0"/>
          </a:p>
        </p:txBody>
      </p:sp>
      <p:sp>
        <p:nvSpPr>
          <p:cNvPr id="14" name="Shape 10"/>
          <p:cNvSpPr/>
          <p:nvPr/>
        </p:nvSpPr>
        <p:spPr>
          <a:xfrm>
            <a:off x="8138160" y="1828800"/>
            <a:ext cx="3511296" cy="3063240"/>
          </a:xfrm>
          <a:prstGeom prst="roundRect">
            <a:avLst>
              <a:gd name="adj" fmla="val 298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5" name="Shape 11"/>
          <p:cNvSpPr/>
          <p:nvPr/>
        </p:nvSpPr>
        <p:spPr>
          <a:xfrm>
            <a:off x="8458200" y="2194560"/>
            <a:ext cx="777240" cy="777240"/>
          </a:xfrm>
          <a:prstGeom prst="ellipse">
            <a:avLst/>
          </a:prstGeom>
          <a:solidFill>
            <a:srgbClr val="2A1416"/>
          </a:solidFill>
          <a:ln w="15875">
            <a:solidFill>
              <a:srgbClr val="EF4444"/>
            </a:solidFill>
            <a:prstDash val="solid"/>
          </a:ln>
        </p:spPr>
      </p:sp>
      <p:pic>
        <p:nvPicPr>
          <p:cNvPr id="16" name="Image 2" descr="preencoded.png">    </p:cNvPr>
          <p:cNvPicPr>
            <a:picLocks noChangeAspect="1"/>
          </p:cNvPicPr>
          <p:nvPr/>
        </p:nvPicPr>
        <p:blipFill>
          <a:blip r:embed="rId3"/>
          <a:stretch>
            <a:fillRect/>
          </a:stretch>
        </p:blipFill>
        <p:spPr>
          <a:xfrm>
            <a:off x="8644738" y="2381098"/>
            <a:ext cx="404165" cy="404165"/>
          </a:xfrm>
          <a:prstGeom prst="rect">
            <a:avLst/>
          </a:prstGeom>
        </p:spPr>
      </p:pic>
      <p:sp>
        <p:nvSpPr>
          <p:cNvPr id="17" name="Text 12"/>
          <p:cNvSpPr/>
          <p:nvPr/>
        </p:nvSpPr>
        <p:spPr>
          <a:xfrm>
            <a:off x="8458200" y="3154680"/>
            <a:ext cx="2871216" cy="457200"/>
          </a:xfrm>
          <a:prstGeom prst="rect">
            <a:avLst/>
          </a:prstGeom>
          <a:noFill/>
          <a:ln/>
        </p:spPr>
        <p:txBody>
          <a:bodyPr wrap="square" lIns="0" tIns="0" rIns="0" bIns="0" rtlCol="0" anchor="ctr"/>
          <a:lstStyle/>
          <a:p>
            <a:pPr indent="0" marL="0">
              <a:buNone/>
            </a:pPr>
            <a:r>
              <a:rPr lang="en-US" sz="2000" b="1" dirty="0">
                <a:solidFill>
                  <a:srgbClr val="E6EDF3"/>
                </a:solidFill>
                <a:latin typeface="Arial" pitchFamily="34" charset="0"/>
                <a:ea typeface="Arial" pitchFamily="34" charset="-122"/>
                <a:cs typeface="Arial" pitchFamily="34" charset="-120"/>
              </a:rPr>
              <a:t>Point solutions</a:t>
            </a:r>
            <a:endParaRPr lang="en-US" sz="2000" dirty="0"/>
          </a:p>
        </p:txBody>
      </p:sp>
      <p:sp>
        <p:nvSpPr>
          <p:cNvPr id="18" name="Text 13"/>
          <p:cNvSpPr/>
          <p:nvPr/>
        </p:nvSpPr>
        <p:spPr>
          <a:xfrm>
            <a:off x="8458200" y="3703320"/>
            <a:ext cx="2962656" cy="100584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No cross-document reasoning. No capture of tribal, in-the-head knowledge.</a:t>
            </a:r>
            <a:endParaRPr lang="en-US" sz="1400" dirty="0"/>
          </a:p>
        </p:txBody>
      </p:sp>
      <p:sp>
        <p:nvSpPr>
          <p:cNvPr id="19" name="Shape 14"/>
          <p:cNvSpPr/>
          <p:nvPr/>
        </p:nvSpPr>
        <p:spPr>
          <a:xfrm>
            <a:off x="548640" y="5212080"/>
            <a:ext cx="11091672" cy="914400"/>
          </a:xfrm>
          <a:prstGeom prst="roundRect">
            <a:avLst>
              <a:gd name="adj" fmla="val 10000"/>
            </a:avLst>
          </a:prstGeom>
          <a:solidFill>
            <a:srgbClr val="121821"/>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0" name="Shape 15"/>
          <p:cNvSpPr/>
          <p:nvPr/>
        </p:nvSpPr>
        <p:spPr>
          <a:xfrm>
            <a:off x="822960" y="5394960"/>
            <a:ext cx="548640" cy="548640"/>
          </a:xfrm>
          <a:prstGeom prst="ellipse">
            <a:avLst/>
          </a:prstGeom>
          <a:solidFill>
            <a:srgbClr val="0E2230"/>
          </a:solidFill>
          <a:ln w="15875">
            <a:solidFill>
              <a:srgbClr val="22D3EE"/>
            </a:solidFill>
            <a:prstDash val="solid"/>
          </a:ln>
        </p:spPr>
      </p:sp>
      <p:pic>
        <p:nvPicPr>
          <p:cNvPr id="21" name="Image 3" descr="preencoded.png">    </p:cNvPr>
          <p:cNvPicPr>
            <a:picLocks noChangeAspect="1"/>
          </p:cNvPicPr>
          <p:nvPr/>
        </p:nvPicPr>
        <p:blipFill>
          <a:blip r:embed="rId4"/>
          <a:stretch>
            <a:fillRect/>
          </a:stretch>
        </p:blipFill>
        <p:spPr>
          <a:xfrm>
            <a:off x="954634" y="5526634"/>
            <a:ext cx="285293" cy="285293"/>
          </a:xfrm>
          <a:prstGeom prst="rect">
            <a:avLst/>
          </a:prstGeom>
        </p:spPr>
      </p:pic>
      <p:sp>
        <p:nvSpPr>
          <p:cNvPr id="22" name="Text 16"/>
          <p:cNvSpPr/>
          <p:nvPr/>
        </p:nvSpPr>
        <p:spPr>
          <a:xfrm>
            <a:off x="1554480" y="5212080"/>
            <a:ext cx="9720072" cy="914400"/>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The gap isn't retrieval — it's connecting and reasoning across everything, with proof.</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THE SOLUTION</a:t>
            </a:r>
            <a:endParaRPr lang="en-US" sz="1250" dirty="0"/>
          </a:p>
        </p:txBody>
      </p:sp>
      <p:sp>
        <p:nvSpPr>
          <p:cNvPr id="3" name="Text 1"/>
          <p:cNvSpPr/>
          <p:nvPr/>
        </p:nvSpPr>
        <p:spPr>
          <a:xfrm>
            <a:off x="548640" y="731520"/>
            <a:ext cx="11091672" cy="868680"/>
          </a:xfrm>
          <a:prstGeom prst="rect">
            <a:avLst/>
          </a:prstGeom>
          <a:noFill/>
          <a:ln/>
        </p:spPr>
        <p:txBody>
          <a:bodyPr wrap="square" lIns="0" tIns="0" rIns="0" bIns="0" rtlCol="0" anchor="t"/>
          <a:lstStyle/>
          <a:p>
            <a:pPr indent="0" marL="0">
              <a:buNone/>
            </a:pPr>
            <a:r>
              <a:rPr lang="en-US" sz="3300" b="1" dirty="0">
                <a:solidFill>
                  <a:srgbClr val="E6EDF3"/>
                </a:solidFill>
                <a:latin typeface="Arial" pitchFamily="34" charset="0"/>
                <a:ea typeface="Arial" pitchFamily="34" charset="-122"/>
                <a:cs typeface="Arial" pitchFamily="34" charset="-120"/>
              </a:rPr>
              <a:t>NEURON IQ — one operational brain</a:t>
            </a:r>
            <a:endParaRPr lang="en-US" sz="3300" dirty="0"/>
          </a:p>
        </p:txBody>
      </p:sp>
      <p:sp>
        <p:nvSpPr>
          <p:cNvPr id="4" name="Shape 2"/>
          <p:cNvSpPr/>
          <p:nvPr/>
        </p:nvSpPr>
        <p:spPr>
          <a:xfrm>
            <a:off x="548640" y="1828800"/>
            <a:ext cx="2432304" cy="1143000"/>
          </a:xfrm>
          <a:prstGeom prst="roundRect">
            <a:avLst>
              <a:gd name="adj" fmla="val 8000"/>
            </a:avLst>
          </a:prstGeom>
          <a:solidFill>
            <a:srgbClr val="1B2838"/>
          </a:solidFill>
          <a:ln w="9525">
            <a:solidFill>
              <a:srgbClr val="243244"/>
            </a:solidFill>
            <a:prstDash val="solid"/>
          </a:ln>
        </p:spPr>
      </p:sp>
      <p:sp>
        <p:nvSpPr>
          <p:cNvPr id="5" name="Text 3"/>
          <p:cNvSpPr/>
          <p:nvPr/>
        </p:nvSpPr>
        <p:spPr>
          <a:xfrm>
            <a:off x="640080" y="2029968"/>
            <a:ext cx="2249424" cy="502920"/>
          </a:xfrm>
          <a:prstGeom prst="rect">
            <a:avLst/>
          </a:prstGeom>
          <a:noFill/>
          <a:ln/>
        </p:spPr>
        <p:txBody>
          <a:bodyPr wrap="square" lIns="0" tIns="0" rIns="0" bIns="0" rtlCol="0" anchor="ctr"/>
          <a:lstStyle/>
          <a:p>
            <a:pPr algn="ctr" indent="0" marL="0">
              <a:buNone/>
            </a:pPr>
            <a:r>
              <a:rPr lang="en-US" sz="1450" b="1" dirty="0">
                <a:solidFill>
                  <a:srgbClr val="E6EDF3"/>
                </a:solidFill>
                <a:latin typeface="Arial" pitchFamily="34" charset="0"/>
                <a:ea typeface="Arial" pitchFamily="34" charset="-122"/>
                <a:cs typeface="Arial" pitchFamily="34" charset="-120"/>
              </a:rPr>
              <a:t>Every document</a:t>
            </a:r>
            <a:endParaRPr lang="en-US" sz="1450" dirty="0"/>
          </a:p>
        </p:txBody>
      </p:sp>
      <p:sp>
        <p:nvSpPr>
          <p:cNvPr id="6" name="Text 4"/>
          <p:cNvSpPr/>
          <p:nvPr/>
        </p:nvSpPr>
        <p:spPr>
          <a:xfrm>
            <a:off x="640080" y="2505456"/>
            <a:ext cx="2249424" cy="320040"/>
          </a:xfrm>
          <a:prstGeom prst="rect">
            <a:avLst/>
          </a:prstGeom>
          <a:noFill/>
          <a:ln/>
        </p:spPr>
        <p:txBody>
          <a:bodyPr wrap="square" lIns="0" tIns="0" rIns="0" bIns="0" rtlCol="0" anchor="ctr"/>
          <a:lstStyle/>
          <a:p>
            <a:pPr algn="ctr" indent="0" marL="0">
              <a:buNone/>
            </a:pPr>
            <a:r>
              <a:rPr lang="en-US" sz="1100" dirty="0">
                <a:solidFill>
                  <a:srgbClr val="9FB0C0"/>
                </a:solidFill>
                <a:latin typeface="Arial" pitchFamily="34" charset="0"/>
                <a:ea typeface="Arial" pitchFamily="34" charset="-122"/>
                <a:cs typeface="Arial" pitchFamily="34" charset="-120"/>
              </a:rPr>
              <a:t>P&amp;ID · SOP · logs · email</a:t>
            </a:r>
            <a:endParaRPr lang="en-US" sz="1100" dirty="0"/>
          </a:p>
        </p:txBody>
      </p:sp>
      <p:sp>
        <p:nvSpPr>
          <p:cNvPr id="7" name="Text 5"/>
          <p:cNvSpPr/>
          <p:nvPr/>
        </p:nvSpPr>
        <p:spPr>
          <a:xfrm>
            <a:off x="2935224" y="2125980"/>
            <a:ext cx="548640" cy="548640"/>
          </a:xfrm>
          <a:prstGeom prst="rect">
            <a:avLst/>
          </a:prstGeom>
          <a:noFill/>
          <a:ln/>
        </p:spPr>
        <p:txBody>
          <a:bodyPr wrap="square" lIns="0" tIns="0" rIns="0" bIns="0" rtlCol="0" anchor="ctr"/>
          <a:lstStyle/>
          <a:p>
            <a:pPr algn="ctr" indent="0" marL="0">
              <a:buNone/>
            </a:pPr>
            <a:r>
              <a:rPr lang="en-US" sz="3000" b="1" dirty="0">
                <a:solidFill>
                  <a:srgbClr val="22D3EE"/>
                </a:solidFill>
                <a:latin typeface="Arial" pitchFamily="34" charset="0"/>
                <a:ea typeface="Arial" pitchFamily="34" charset="-122"/>
                <a:cs typeface="Arial" pitchFamily="34" charset="-120"/>
              </a:rPr>
              <a:t>→</a:t>
            </a:r>
            <a:endParaRPr lang="en-US" sz="3000" dirty="0"/>
          </a:p>
        </p:txBody>
      </p:sp>
      <p:sp>
        <p:nvSpPr>
          <p:cNvPr id="8" name="Shape 6"/>
          <p:cNvSpPr/>
          <p:nvPr/>
        </p:nvSpPr>
        <p:spPr>
          <a:xfrm>
            <a:off x="3438144" y="1828800"/>
            <a:ext cx="2432304" cy="1143000"/>
          </a:xfrm>
          <a:prstGeom prst="roundRect">
            <a:avLst>
              <a:gd name="adj" fmla="val 8000"/>
            </a:avLst>
          </a:prstGeom>
          <a:solidFill>
            <a:srgbClr val="1B2838"/>
          </a:solidFill>
          <a:ln w="9525">
            <a:solidFill>
              <a:srgbClr val="243244"/>
            </a:solidFill>
            <a:prstDash val="solid"/>
          </a:ln>
        </p:spPr>
      </p:sp>
      <p:sp>
        <p:nvSpPr>
          <p:cNvPr id="9" name="Text 7"/>
          <p:cNvSpPr/>
          <p:nvPr/>
        </p:nvSpPr>
        <p:spPr>
          <a:xfrm>
            <a:off x="3529584" y="2029968"/>
            <a:ext cx="2249424" cy="502920"/>
          </a:xfrm>
          <a:prstGeom prst="rect">
            <a:avLst/>
          </a:prstGeom>
          <a:noFill/>
          <a:ln/>
        </p:spPr>
        <p:txBody>
          <a:bodyPr wrap="square" lIns="0" tIns="0" rIns="0" bIns="0" rtlCol="0" anchor="ctr"/>
          <a:lstStyle/>
          <a:p>
            <a:pPr algn="ctr" indent="0" marL="0">
              <a:buNone/>
            </a:pPr>
            <a:r>
              <a:rPr lang="en-US" sz="1450" b="1" dirty="0">
                <a:solidFill>
                  <a:srgbClr val="E6EDF3"/>
                </a:solidFill>
                <a:latin typeface="Arial" pitchFamily="34" charset="0"/>
                <a:ea typeface="Arial" pitchFamily="34" charset="-122"/>
                <a:cs typeface="Arial" pitchFamily="34" charset="-120"/>
              </a:rPr>
              <a:t>Living Knowledge Graph</a:t>
            </a:r>
            <a:endParaRPr lang="en-US" sz="1450" dirty="0"/>
          </a:p>
        </p:txBody>
      </p:sp>
      <p:sp>
        <p:nvSpPr>
          <p:cNvPr id="10" name="Text 8"/>
          <p:cNvSpPr/>
          <p:nvPr/>
        </p:nvSpPr>
        <p:spPr>
          <a:xfrm>
            <a:off x="3529584" y="2505456"/>
            <a:ext cx="2249424" cy="320040"/>
          </a:xfrm>
          <a:prstGeom prst="rect">
            <a:avLst/>
          </a:prstGeom>
          <a:noFill/>
          <a:ln/>
        </p:spPr>
        <p:txBody>
          <a:bodyPr wrap="square" lIns="0" tIns="0" rIns="0" bIns="0" rtlCol="0" anchor="ctr"/>
          <a:lstStyle/>
          <a:p>
            <a:pPr algn="ctr" indent="0" marL="0">
              <a:buNone/>
            </a:pPr>
            <a:r>
              <a:rPr lang="en-US" sz="1100" dirty="0">
                <a:solidFill>
                  <a:srgbClr val="9FB0C0"/>
                </a:solidFill>
                <a:latin typeface="Arial" pitchFamily="34" charset="0"/>
                <a:ea typeface="Arial" pitchFamily="34" charset="-122"/>
                <a:cs typeface="Arial" pitchFamily="34" charset="-120"/>
              </a:rPr>
              <a:t>assets · specs · incidents</a:t>
            </a:r>
            <a:endParaRPr lang="en-US" sz="1100" dirty="0"/>
          </a:p>
        </p:txBody>
      </p:sp>
      <p:sp>
        <p:nvSpPr>
          <p:cNvPr id="11" name="Text 9"/>
          <p:cNvSpPr/>
          <p:nvPr/>
        </p:nvSpPr>
        <p:spPr>
          <a:xfrm>
            <a:off x="5824728" y="2125980"/>
            <a:ext cx="548640" cy="548640"/>
          </a:xfrm>
          <a:prstGeom prst="rect">
            <a:avLst/>
          </a:prstGeom>
          <a:noFill/>
          <a:ln/>
        </p:spPr>
        <p:txBody>
          <a:bodyPr wrap="square" lIns="0" tIns="0" rIns="0" bIns="0" rtlCol="0" anchor="ctr"/>
          <a:lstStyle/>
          <a:p>
            <a:pPr algn="ctr" indent="0" marL="0">
              <a:buNone/>
            </a:pPr>
            <a:r>
              <a:rPr lang="en-US" sz="3000" b="1" dirty="0">
                <a:solidFill>
                  <a:srgbClr val="22D3EE"/>
                </a:solidFill>
                <a:latin typeface="Arial" pitchFamily="34" charset="0"/>
                <a:ea typeface="Arial" pitchFamily="34" charset="-122"/>
                <a:cs typeface="Arial" pitchFamily="34" charset="-120"/>
              </a:rPr>
              <a:t>→</a:t>
            </a:r>
            <a:endParaRPr lang="en-US" sz="3000" dirty="0"/>
          </a:p>
        </p:txBody>
      </p:sp>
      <p:sp>
        <p:nvSpPr>
          <p:cNvPr id="12" name="Shape 10"/>
          <p:cNvSpPr/>
          <p:nvPr/>
        </p:nvSpPr>
        <p:spPr>
          <a:xfrm>
            <a:off x="6327648" y="1828800"/>
            <a:ext cx="2432304" cy="1143000"/>
          </a:xfrm>
          <a:prstGeom prst="roundRect">
            <a:avLst>
              <a:gd name="adj" fmla="val 8000"/>
            </a:avLst>
          </a:prstGeom>
          <a:solidFill>
            <a:srgbClr val="1B2838"/>
          </a:solidFill>
          <a:ln w="9525">
            <a:solidFill>
              <a:srgbClr val="243244"/>
            </a:solidFill>
            <a:prstDash val="solid"/>
          </a:ln>
        </p:spPr>
      </p:sp>
      <p:sp>
        <p:nvSpPr>
          <p:cNvPr id="13" name="Text 11"/>
          <p:cNvSpPr/>
          <p:nvPr/>
        </p:nvSpPr>
        <p:spPr>
          <a:xfrm>
            <a:off x="6419088" y="2029968"/>
            <a:ext cx="2249424" cy="502920"/>
          </a:xfrm>
          <a:prstGeom prst="rect">
            <a:avLst/>
          </a:prstGeom>
          <a:noFill/>
          <a:ln/>
        </p:spPr>
        <p:txBody>
          <a:bodyPr wrap="square" lIns="0" tIns="0" rIns="0" bIns="0" rtlCol="0" anchor="ctr"/>
          <a:lstStyle/>
          <a:p>
            <a:pPr algn="ctr" indent="0" marL="0">
              <a:buNone/>
            </a:pPr>
            <a:r>
              <a:rPr lang="en-US" sz="1450" b="1" dirty="0">
                <a:solidFill>
                  <a:srgbClr val="E6EDF3"/>
                </a:solidFill>
                <a:latin typeface="Arial" pitchFamily="34" charset="0"/>
                <a:ea typeface="Arial" pitchFamily="34" charset="-122"/>
                <a:cs typeface="Arial" pitchFamily="34" charset="-120"/>
              </a:rPr>
              <a:t>Multi-agent intelligence</a:t>
            </a:r>
            <a:endParaRPr lang="en-US" sz="1450" dirty="0"/>
          </a:p>
        </p:txBody>
      </p:sp>
      <p:sp>
        <p:nvSpPr>
          <p:cNvPr id="14" name="Text 12"/>
          <p:cNvSpPr/>
          <p:nvPr/>
        </p:nvSpPr>
        <p:spPr>
          <a:xfrm>
            <a:off x="6419088" y="2505456"/>
            <a:ext cx="2249424" cy="320040"/>
          </a:xfrm>
          <a:prstGeom prst="rect">
            <a:avLst/>
          </a:prstGeom>
          <a:noFill/>
          <a:ln/>
        </p:spPr>
        <p:txBody>
          <a:bodyPr wrap="square" lIns="0" tIns="0" rIns="0" bIns="0" rtlCol="0" anchor="ctr"/>
          <a:lstStyle/>
          <a:p>
            <a:pPr algn="ctr" indent="0" marL="0">
              <a:buNone/>
            </a:pPr>
            <a:r>
              <a:rPr lang="en-US" sz="1100" dirty="0">
                <a:solidFill>
                  <a:srgbClr val="9FB0C0"/>
                </a:solidFill>
                <a:latin typeface="Arial" pitchFamily="34" charset="0"/>
                <a:ea typeface="Arial" pitchFamily="34" charset="-122"/>
                <a:cs typeface="Arial" pitchFamily="34" charset="-120"/>
              </a:rPr>
              <a:t>8 specialized agents</a:t>
            </a:r>
            <a:endParaRPr lang="en-US" sz="1100" dirty="0"/>
          </a:p>
        </p:txBody>
      </p:sp>
      <p:sp>
        <p:nvSpPr>
          <p:cNvPr id="15" name="Text 13"/>
          <p:cNvSpPr/>
          <p:nvPr/>
        </p:nvSpPr>
        <p:spPr>
          <a:xfrm>
            <a:off x="8714232" y="2125980"/>
            <a:ext cx="548640" cy="548640"/>
          </a:xfrm>
          <a:prstGeom prst="rect">
            <a:avLst/>
          </a:prstGeom>
          <a:noFill/>
          <a:ln/>
        </p:spPr>
        <p:txBody>
          <a:bodyPr wrap="square" lIns="0" tIns="0" rIns="0" bIns="0" rtlCol="0" anchor="ctr"/>
          <a:lstStyle/>
          <a:p>
            <a:pPr algn="ctr" indent="0" marL="0">
              <a:buNone/>
            </a:pPr>
            <a:r>
              <a:rPr lang="en-US" sz="3000" b="1" dirty="0">
                <a:solidFill>
                  <a:srgbClr val="22D3EE"/>
                </a:solidFill>
                <a:latin typeface="Arial" pitchFamily="34" charset="0"/>
                <a:ea typeface="Arial" pitchFamily="34" charset="-122"/>
                <a:cs typeface="Arial" pitchFamily="34" charset="-120"/>
              </a:rPr>
              <a:t>→</a:t>
            </a:r>
            <a:endParaRPr lang="en-US" sz="3000" dirty="0"/>
          </a:p>
        </p:txBody>
      </p:sp>
      <p:sp>
        <p:nvSpPr>
          <p:cNvPr id="16" name="Shape 14"/>
          <p:cNvSpPr/>
          <p:nvPr/>
        </p:nvSpPr>
        <p:spPr>
          <a:xfrm>
            <a:off x="9217152" y="1828800"/>
            <a:ext cx="2432304" cy="1143000"/>
          </a:xfrm>
          <a:prstGeom prst="roundRect">
            <a:avLst>
              <a:gd name="adj" fmla="val 8000"/>
            </a:avLst>
          </a:prstGeom>
          <a:solidFill>
            <a:srgbClr val="1B2838"/>
          </a:solidFill>
          <a:ln w="9525">
            <a:solidFill>
              <a:srgbClr val="243244"/>
            </a:solidFill>
            <a:prstDash val="solid"/>
          </a:ln>
        </p:spPr>
      </p:sp>
      <p:sp>
        <p:nvSpPr>
          <p:cNvPr id="17" name="Text 15"/>
          <p:cNvSpPr/>
          <p:nvPr/>
        </p:nvSpPr>
        <p:spPr>
          <a:xfrm>
            <a:off x="9308592" y="2029968"/>
            <a:ext cx="2249424" cy="502920"/>
          </a:xfrm>
          <a:prstGeom prst="rect">
            <a:avLst/>
          </a:prstGeom>
          <a:noFill/>
          <a:ln/>
        </p:spPr>
        <p:txBody>
          <a:bodyPr wrap="square" lIns="0" tIns="0" rIns="0" bIns="0" rtlCol="0" anchor="ctr"/>
          <a:lstStyle/>
          <a:p>
            <a:pPr algn="ctr" indent="0" marL="0">
              <a:buNone/>
            </a:pPr>
            <a:r>
              <a:rPr lang="en-US" sz="1450" b="1" dirty="0">
                <a:solidFill>
                  <a:srgbClr val="E6EDF3"/>
                </a:solidFill>
                <a:latin typeface="Arial" pitchFamily="34" charset="0"/>
                <a:ea typeface="Arial" pitchFamily="34" charset="-122"/>
                <a:cs typeface="Arial" pitchFamily="34" charset="-120"/>
              </a:rPr>
              <a:t>Grounded answers</a:t>
            </a:r>
            <a:endParaRPr lang="en-US" sz="1450" dirty="0"/>
          </a:p>
        </p:txBody>
      </p:sp>
      <p:sp>
        <p:nvSpPr>
          <p:cNvPr id="18" name="Text 16"/>
          <p:cNvSpPr/>
          <p:nvPr/>
        </p:nvSpPr>
        <p:spPr>
          <a:xfrm>
            <a:off x="9308592" y="2505456"/>
            <a:ext cx="2249424" cy="320040"/>
          </a:xfrm>
          <a:prstGeom prst="rect">
            <a:avLst/>
          </a:prstGeom>
          <a:noFill/>
          <a:ln/>
        </p:spPr>
        <p:txBody>
          <a:bodyPr wrap="square" lIns="0" tIns="0" rIns="0" bIns="0" rtlCol="0" anchor="ctr"/>
          <a:lstStyle/>
          <a:p>
            <a:pPr algn="ctr" indent="0" marL="0">
              <a:buNone/>
            </a:pPr>
            <a:r>
              <a:rPr lang="en-US" sz="1100" dirty="0">
                <a:solidFill>
                  <a:srgbClr val="9FB0C0"/>
                </a:solidFill>
                <a:latin typeface="Arial" pitchFamily="34" charset="0"/>
                <a:ea typeface="Arial" pitchFamily="34" charset="-122"/>
                <a:cs typeface="Arial" pitchFamily="34" charset="-120"/>
              </a:rPr>
              <a:t>cited · confidence-scored</a:t>
            </a:r>
            <a:endParaRPr lang="en-US" sz="1100" dirty="0"/>
          </a:p>
        </p:txBody>
      </p:sp>
      <p:sp>
        <p:nvSpPr>
          <p:cNvPr id="19" name="Shape 17"/>
          <p:cNvSpPr/>
          <p:nvPr/>
        </p:nvSpPr>
        <p:spPr>
          <a:xfrm>
            <a:off x="548640" y="3611880"/>
            <a:ext cx="2697480" cy="2331720"/>
          </a:xfrm>
          <a:prstGeom prst="roundRect">
            <a:avLst>
              <a:gd name="adj" fmla="val 3922"/>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0" name="Shape 18"/>
          <p:cNvSpPr/>
          <p:nvPr/>
        </p:nvSpPr>
        <p:spPr>
          <a:xfrm>
            <a:off x="822960" y="3904488"/>
            <a:ext cx="658368" cy="658368"/>
          </a:xfrm>
          <a:prstGeom prst="ellipse">
            <a:avLst/>
          </a:prstGeom>
          <a:solidFill>
            <a:srgbClr val="0E2230"/>
          </a:solidFill>
          <a:ln w="15875">
            <a:solidFill>
              <a:srgbClr val="22D3EE"/>
            </a:solidFill>
            <a:prstDash val="solid"/>
          </a:ln>
        </p:spPr>
      </p:sp>
      <p:pic>
        <p:nvPicPr>
          <p:cNvPr id="21" name="Image 0" descr="preencoded.png">    </p:cNvPr>
          <p:cNvPicPr>
            <a:picLocks noChangeAspect="1"/>
          </p:cNvPicPr>
          <p:nvPr/>
        </p:nvPicPr>
        <p:blipFill>
          <a:blip r:embed="rId1"/>
          <a:stretch>
            <a:fillRect/>
          </a:stretch>
        </p:blipFill>
        <p:spPr>
          <a:xfrm>
            <a:off x="980968" y="4062496"/>
            <a:ext cx="342351" cy="342351"/>
          </a:xfrm>
          <a:prstGeom prst="rect">
            <a:avLst/>
          </a:prstGeom>
        </p:spPr>
      </p:pic>
      <p:sp>
        <p:nvSpPr>
          <p:cNvPr id="22" name="Text 19"/>
          <p:cNvSpPr/>
          <p:nvPr/>
        </p:nvSpPr>
        <p:spPr>
          <a:xfrm>
            <a:off x="822960" y="4690872"/>
            <a:ext cx="2148840" cy="365760"/>
          </a:xfrm>
          <a:prstGeom prst="rect">
            <a:avLst/>
          </a:prstGeom>
          <a:noFill/>
          <a:ln/>
        </p:spPr>
        <p:txBody>
          <a:bodyPr wrap="square" lIns="0" tIns="0" rIns="0" bIns="0" rtlCol="0" anchor="ctr"/>
          <a:lstStyle/>
          <a:p>
            <a:pPr indent="0" marL="0">
              <a:buNone/>
            </a:pPr>
            <a:r>
              <a:rPr lang="en-US" sz="1600" b="1" dirty="0">
                <a:solidFill>
                  <a:srgbClr val="22D3EE"/>
                </a:solidFill>
                <a:latin typeface="Arial" pitchFamily="34" charset="0"/>
                <a:ea typeface="Arial" pitchFamily="34" charset="-122"/>
                <a:cs typeface="Arial" pitchFamily="34" charset="-120"/>
              </a:rPr>
              <a:t>Understand</a:t>
            </a:r>
            <a:endParaRPr lang="en-US" sz="1600" dirty="0"/>
          </a:p>
        </p:txBody>
      </p:sp>
      <p:sp>
        <p:nvSpPr>
          <p:cNvPr id="23" name="Text 20"/>
          <p:cNvSpPr/>
          <p:nvPr/>
        </p:nvSpPr>
        <p:spPr>
          <a:xfrm>
            <a:off x="822960" y="5093208"/>
            <a:ext cx="2194560" cy="777240"/>
          </a:xfrm>
          <a:prstGeom prst="rect">
            <a:avLst/>
          </a:prstGeom>
          <a:noFill/>
          <a:ln/>
        </p:spPr>
        <p:txBody>
          <a:bodyPr wrap="square" lIns="0" tIns="0" rIns="0" bIns="0" rtlCol="0" anchor="ctr"/>
          <a:lstStyle/>
          <a:p>
            <a:pPr indent="0" marL="0">
              <a:lnSpc>
                <a:spcPct val="103000"/>
              </a:lnSpc>
              <a:buNone/>
            </a:pPr>
            <a:r>
              <a:rPr lang="en-US" sz="1250" dirty="0">
                <a:solidFill>
                  <a:srgbClr val="9FB0C0"/>
                </a:solidFill>
                <a:latin typeface="Arial" pitchFamily="34" charset="0"/>
                <a:ea typeface="Arial" pitchFamily="34" charset="-122"/>
                <a:cs typeface="Arial" pitchFamily="34" charset="-120"/>
              </a:rPr>
              <a:t>Reads every format — OCR, tables, even P&amp;ID diagrams.</a:t>
            </a:r>
            <a:endParaRPr lang="en-US" sz="1250" dirty="0"/>
          </a:p>
        </p:txBody>
      </p:sp>
      <p:sp>
        <p:nvSpPr>
          <p:cNvPr id="24" name="Shape 21"/>
          <p:cNvSpPr/>
          <p:nvPr/>
        </p:nvSpPr>
        <p:spPr>
          <a:xfrm>
            <a:off x="3364992" y="3611880"/>
            <a:ext cx="2697480" cy="2331720"/>
          </a:xfrm>
          <a:prstGeom prst="roundRect">
            <a:avLst>
              <a:gd name="adj" fmla="val 3922"/>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5" name="Shape 22"/>
          <p:cNvSpPr/>
          <p:nvPr/>
        </p:nvSpPr>
        <p:spPr>
          <a:xfrm>
            <a:off x="3639312" y="3904488"/>
            <a:ext cx="658368" cy="658368"/>
          </a:xfrm>
          <a:prstGeom prst="ellipse">
            <a:avLst/>
          </a:prstGeom>
          <a:solidFill>
            <a:srgbClr val="0E2230"/>
          </a:solidFill>
          <a:ln w="15875">
            <a:solidFill>
              <a:srgbClr val="22D3EE"/>
            </a:solidFill>
            <a:prstDash val="solid"/>
          </a:ln>
        </p:spPr>
      </p:sp>
      <p:pic>
        <p:nvPicPr>
          <p:cNvPr id="26" name="Image 1" descr="preencoded.png">    </p:cNvPr>
          <p:cNvPicPr>
            <a:picLocks noChangeAspect="1"/>
          </p:cNvPicPr>
          <p:nvPr/>
        </p:nvPicPr>
        <p:blipFill>
          <a:blip r:embed="rId2"/>
          <a:stretch>
            <a:fillRect/>
          </a:stretch>
        </p:blipFill>
        <p:spPr>
          <a:xfrm>
            <a:off x="3797320" y="4062496"/>
            <a:ext cx="342351" cy="342351"/>
          </a:xfrm>
          <a:prstGeom prst="rect">
            <a:avLst/>
          </a:prstGeom>
        </p:spPr>
      </p:pic>
      <p:sp>
        <p:nvSpPr>
          <p:cNvPr id="27" name="Text 23"/>
          <p:cNvSpPr/>
          <p:nvPr/>
        </p:nvSpPr>
        <p:spPr>
          <a:xfrm>
            <a:off x="3639312" y="4690872"/>
            <a:ext cx="2148840" cy="365760"/>
          </a:xfrm>
          <a:prstGeom prst="rect">
            <a:avLst/>
          </a:prstGeom>
          <a:noFill/>
          <a:ln/>
        </p:spPr>
        <p:txBody>
          <a:bodyPr wrap="square" lIns="0" tIns="0" rIns="0" bIns="0" rtlCol="0" anchor="ctr"/>
          <a:lstStyle/>
          <a:p>
            <a:pPr indent="0" marL="0">
              <a:buNone/>
            </a:pPr>
            <a:r>
              <a:rPr lang="en-US" sz="1600" b="1" dirty="0">
                <a:solidFill>
                  <a:srgbClr val="22D3EE"/>
                </a:solidFill>
                <a:latin typeface="Arial" pitchFamily="34" charset="0"/>
                <a:ea typeface="Arial" pitchFamily="34" charset="-122"/>
                <a:cs typeface="Arial" pitchFamily="34" charset="-120"/>
              </a:rPr>
              <a:t>Connect</a:t>
            </a:r>
            <a:endParaRPr lang="en-US" sz="1600" dirty="0"/>
          </a:p>
        </p:txBody>
      </p:sp>
      <p:sp>
        <p:nvSpPr>
          <p:cNvPr id="28" name="Text 24"/>
          <p:cNvSpPr/>
          <p:nvPr/>
        </p:nvSpPr>
        <p:spPr>
          <a:xfrm>
            <a:off x="3639312" y="5093208"/>
            <a:ext cx="2194560" cy="777240"/>
          </a:xfrm>
          <a:prstGeom prst="rect">
            <a:avLst/>
          </a:prstGeom>
          <a:noFill/>
          <a:ln/>
        </p:spPr>
        <p:txBody>
          <a:bodyPr wrap="square" lIns="0" tIns="0" rIns="0" bIns="0" rtlCol="0" anchor="ctr"/>
          <a:lstStyle/>
          <a:p>
            <a:pPr indent="0" marL="0">
              <a:lnSpc>
                <a:spcPct val="103000"/>
              </a:lnSpc>
              <a:buNone/>
            </a:pPr>
            <a:r>
              <a:rPr lang="en-US" sz="1250" dirty="0">
                <a:solidFill>
                  <a:srgbClr val="9FB0C0"/>
                </a:solidFill>
                <a:latin typeface="Arial" pitchFamily="34" charset="0"/>
                <a:ea typeface="Arial" pitchFamily="34" charset="-122"/>
                <a:cs typeface="Arial" pitchFamily="34" charset="-120"/>
              </a:rPr>
              <a:t>Wires assets, specs, procedures and incidents into one graph.</a:t>
            </a:r>
            <a:endParaRPr lang="en-US" sz="1250" dirty="0"/>
          </a:p>
        </p:txBody>
      </p:sp>
      <p:sp>
        <p:nvSpPr>
          <p:cNvPr id="29" name="Shape 25"/>
          <p:cNvSpPr/>
          <p:nvPr/>
        </p:nvSpPr>
        <p:spPr>
          <a:xfrm>
            <a:off x="6181344" y="3611880"/>
            <a:ext cx="2697480" cy="2331720"/>
          </a:xfrm>
          <a:prstGeom prst="roundRect">
            <a:avLst>
              <a:gd name="adj" fmla="val 3922"/>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30" name="Shape 26"/>
          <p:cNvSpPr/>
          <p:nvPr/>
        </p:nvSpPr>
        <p:spPr>
          <a:xfrm>
            <a:off x="6455664" y="3904488"/>
            <a:ext cx="658368" cy="658368"/>
          </a:xfrm>
          <a:prstGeom prst="ellipse">
            <a:avLst/>
          </a:prstGeom>
          <a:solidFill>
            <a:srgbClr val="0E2230"/>
          </a:solidFill>
          <a:ln w="15875">
            <a:solidFill>
              <a:srgbClr val="22D3EE"/>
            </a:solidFill>
            <a:prstDash val="solid"/>
          </a:ln>
        </p:spPr>
      </p:sp>
      <p:pic>
        <p:nvPicPr>
          <p:cNvPr id="31" name="Image 2" descr="preencoded.png">    </p:cNvPr>
          <p:cNvPicPr>
            <a:picLocks noChangeAspect="1"/>
          </p:cNvPicPr>
          <p:nvPr/>
        </p:nvPicPr>
        <p:blipFill>
          <a:blip r:embed="rId3"/>
          <a:stretch>
            <a:fillRect/>
          </a:stretch>
        </p:blipFill>
        <p:spPr>
          <a:xfrm>
            <a:off x="6613672" y="4062496"/>
            <a:ext cx="342351" cy="342351"/>
          </a:xfrm>
          <a:prstGeom prst="rect">
            <a:avLst/>
          </a:prstGeom>
        </p:spPr>
      </p:pic>
      <p:sp>
        <p:nvSpPr>
          <p:cNvPr id="32" name="Text 27"/>
          <p:cNvSpPr/>
          <p:nvPr/>
        </p:nvSpPr>
        <p:spPr>
          <a:xfrm>
            <a:off x="6455664" y="4690872"/>
            <a:ext cx="2148840" cy="365760"/>
          </a:xfrm>
          <a:prstGeom prst="rect">
            <a:avLst/>
          </a:prstGeom>
          <a:noFill/>
          <a:ln/>
        </p:spPr>
        <p:txBody>
          <a:bodyPr wrap="square" lIns="0" tIns="0" rIns="0" bIns="0" rtlCol="0" anchor="ctr"/>
          <a:lstStyle/>
          <a:p>
            <a:pPr indent="0" marL="0">
              <a:buNone/>
            </a:pPr>
            <a:r>
              <a:rPr lang="en-US" sz="1600" b="1" dirty="0">
                <a:solidFill>
                  <a:srgbClr val="22D3EE"/>
                </a:solidFill>
                <a:latin typeface="Arial" pitchFamily="34" charset="0"/>
                <a:ea typeface="Arial" pitchFamily="34" charset="-122"/>
                <a:cs typeface="Arial" pitchFamily="34" charset="-120"/>
              </a:rPr>
              <a:t>Reason</a:t>
            </a:r>
            <a:endParaRPr lang="en-US" sz="1600" dirty="0"/>
          </a:p>
        </p:txBody>
      </p:sp>
      <p:sp>
        <p:nvSpPr>
          <p:cNvPr id="33" name="Text 28"/>
          <p:cNvSpPr/>
          <p:nvPr/>
        </p:nvSpPr>
        <p:spPr>
          <a:xfrm>
            <a:off x="6455664" y="5093208"/>
            <a:ext cx="2194560" cy="777240"/>
          </a:xfrm>
          <a:prstGeom prst="rect">
            <a:avLst/>
          </a:prstGeom>
          <a:noFill/>
          <a:ln/>
        </p:spPr>
        <p:txBody>
          <a:bodyPr wrap="square" lIns="0" tIns="0" rIns="0" bIns="0" rtlCol="0" anchor="ctr"/>
          <a:lstStyle/>
          <a:p>
            <a:pPr indent="0" marL="0">
              <a:lnSpc>
                <a:spcPct val="103000"/>
              </a:lnSpc>
              <a:buNone/>
            </a:pPr>
            <a:r>
              <a:rPr lang="en-US" sz="1250" dirty="0">
                <a:solidFill>
                  <a:srgbClr val="9FB0C0"/>
                </a:solidFill>
                <a:latin typeface="Arial" pitchFamily="34" charset="0"/>
                <a:ea typeface="Arial" pitchFamily="34" charset="-122"/>
                <a:cs typeface="Arial" pitchFamily="34" charset="-120"/>
              </a:rPr>
              <a:t>Agents traverse the graph to answer, diagnose and verify.</a:t>
            </a:r>
            <a:endParaRPr lang="en-US" sz="1250" dirty="0"/>
          </a:p>
        </p:txBody>
      </p:sp>
      <p:sp>
        <p:nvSpPr>
          <p:cNvPr id="34" name="Shape 29"/>
          <p:cNvSpPr/>
          <p:nvPr/>
        </p:nvSpPr>
        <p:spPr>
          <a:xfrm>
            <a:off x="8997696" y="3611880"/>
            <a:ext cx="2697480" cy="2331720"/>
          </a:xfrm>
          <a:prstGeom prst="roundRect">
            <a:avLst>
              <a:gd name="adj" fmla="val 3922"/>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35" name="Shape 30"/>
          <p:cNvSpPr/>
          <p:nvPr/>
        </p:nvSpPr>
        <p:spPr>
          <a:xfrm>
            <a:off x="9272016" y="3904488"/>
            <a:ext cx="658368" cy="658368"/>
          </a:xfrm>
          <a:prstGeom prst="ellipse">
            <a:avLst/>
          </a:prstGeom>
          <a:solidFill>
            <a:srgbClr val="0E2230"/>
          </a:solidFill>
          <a:ln w="15875">
            <a:solidFill>
              <a:srgbClr val="22D3EE"/>
            </a:solidFill>
            <a:prstDash val="solid"/>
          </a:ln>
        </p:spPr>
      </p:sp>
      <p:pic>
        <p:nvPicPr>
          <p:cNvPr id="36" name="Image 3" descr="preencoded.png">    </p:cNvPr>
          <p:cNvPicPr>
            <a:picLocks noChangeAspect="1"/>
          </p:cNvPicPr>
          <p:nvPr/>
        </p:nvPicPr>
        <p:blipFill>
          <a:blip r:embed="rId4"/>
          <a:stretch>
            <a:fillRect/>
          </a:stretch>
        </p:blipFill>
        <p:spPr>
          <a:xfrm>
            <a:off x="9430024" y="4062496"/>
            <a:ext cx="342351" cy="342351"/>
          </a:xfrm>
          <a:prstGeom prst="rect">
            <a:avLst/>
          </a:prstGeom>
        </p:spPr>
      </p:pic>
      <p:sp>
        <p:nvSpPr>
          <p:cNvPr id="37" name="Text 31"/>
          <p:cNvSpPr/>
          <p:nvPr/>
        </p:nvSpPr>
        <p:spPr>
          <a:xfrm>
            <a:off x="9272016" y="4690872"/>
            <a:ext cx="2148840" cy="365760"/>
          </a:xfrm>
          <a:prstGeom prst="rect">
            <a:avLst/>
          </a:prstGeom>
          <a:noFill/>
          <a:ln/>
        </p:spPr>
        <p:txBody>
          <a:bodyPr wrap="square" lIns="0" tIns="0" rIns="0" bIns="0" rtlCol="0" anchor="ctr"/>
          <a:lstStyle/>
          <a:p>
            <a:pPr indent="0" marL="0">
              <a:buNone/>
            </a:pPr>
            <a:r>
              <a:rPr lang="en-US" sz="1600" b="1" dirty="0">
                <a:solidFill>
                  <a:srgbClr val="22D3EE"/>
                </a:solidFill>
                <a:latin typeface="Arial" pitchFamily="34" charset="0"/>
                <a:ea typeface="Arial" pitchFamily="34" charset="-122"/>
                <a:cs typeface="Arial" pitchFamily="34" charset="-120"/>
              </a:rPr>
              <a:t>Preserve</a:t>
            </a:r>
            <a:endParaRPr lang="en-US" sz="1600" dirty="0"/>
          </a:p>
        </p:txBody>
      </p:sp>
      <p:sp>
        <p:nvSpPr>
          <p:cNvPr id="38" name="Text 32"/>
          <p:cNvSpPr/>
          <p:nvPr/>
        </p:nvSpPr>
        <p:spPr>
          <a:xfrm>
            <a:off x="9272016" y="5093208"/>
            <a:ext cx="2194560" cy="777240"/>
          </a:xfrm>
          <a:prstGeom prst="rect">
            <a:avLst/>
          </a:prstGeom>
          <a:noFill/>
          <a:ln/>
        </p:spPr>
        <p:txBody>
          <a:bodyPr wrap="square" lIns="0" tIns="0" rIns="0" bIns="0" rtlCol="0" anchor="ctr"/>
          <a:lstStyle/>
          <a:p>
            <a:pPr indent="0" marL="0">
              <a:lnSpc>
                <a:spcPct val="103000"/>
              </a:lnSpc>
              <a:buNone/>
            </a:pPr>
            <a:r>
              <a:rPr lang="en-US" sz="1250" dirty="0">
                <a:solidFill>
                  <a:srgbClr val="9FB0C0"/>
                </a:solidFill>
                <a:latin typeface="Arial" pitchFamily="34" charset="0"/>
                <a:ea typeface="Arial" pitchFamily="34" charset="-122"/>
                <a:cs typeface="Arial" pitchFamily="34" charset="-120"/>
              </a:rPr>
              <a:t>Captures retiring experts' know-how as linked knowledge.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SEE IT LIVE</a:t>
            </a:r>
            <a:endParaRPr lang="en-US" sz="1250" dirty="0"/>
          </a:p>
        </p:txBody>
      </p:sp>
      <p:sp>
        <p:nvSpPr>
          <p:cNvPr id="3" name="Text 1"/>
          <p:cNvSpPr/>
          <p:nvPr/>
        </p:nvSpPr>
        <p:spPr>
          <a:xfrm>
            <a:off x="548640" y="1828800"/>
            <a:ext cx="4480560" cy="1097280"/>
          </a:xfrm>
          <a:prstGeom prst="rect">
            <a:avLst/>
          </a:prstGeom>
          <a:noFill/>
          <a:ln/>
        </p:spPr>
        <p:txBody>
          <a:bodyPr wrap="square" lIns="0" tIns="0" rIns="0" bIns="0" rtlCol="0" anchor="t"/>
          <a:lstStyle/>
          <a:p>
            <a:pPr indent="0" marL="0">
              <a:buNone/>
            </a:pPr>
            <a:r>
              <a:rPr lang="en-US" sz="5800" b="1" dirty="0">
                <a:solidFill>
                  <a:srgbClr val="22D3EE"/>
                </a:solidFill>
                <a:latin typeface="Arial" pitchFamily="34" charset="0"/>
                <a:ea typeface="Arial" pitchFamily="34" charset="-122"/>
                <a:cs typeface="Arial" pitchFamily="34" charset="-120"/>
              </a:rPr>
              <a:t>LIVE DEMO</a:t>
            </a:r>
            <a:endParaRPr lang="en-US" sz="5800" dirty="0"/>
          </a:p>
        </p:txBody>
      </p:sp>
      <p:sp>
        <p:nvSpPr>
          <p:cNvPr id="4" name="Text 2"/>
          <p:cNvSpPr/>
          <p:nvPr/>
        </p:nvSpPr>
        <p:spPr>
          <a:xfrm>
            <a:off x="548640" y="3063240"/>
            <a:ext cx="4297680" cy="1280160"/>
          </a:xfrm>
          <a:prstGeom prst="rect">
            <a:avLst/>
          </a:prstGeom>
          <a:noFill/>
          <a:ln/>
        </p:spPr>
        <p:txBody>
          <a:bodyPr wrap="square" lIns="0" tIns="0" rIns="0" bIns="0" rtlCol="0" anchor="ctr"/>
          <a:lstStyle/>
          <a:p>
            <a:pPr indent="0" marL="0">
              <a:lnSpc>
                <a:spcPct val="110000"/>
              </a:lnSpc>
              <a:buNone/>
            </a:pPr>
            <a:r>
              <a:rPr lang="en-US" sz="1700" dirty="0">
                <a:solidFill>
                  <a:srgbClr val="9FB0C0"/>
                </a:solidFill>
                <a:latin typeface="Arial" pitchFamily="34" charset="0"/>
                <a:ea typeface="Arial" pitchFamily="34" charset="-122"/>
                <a:cs typeface="Arial" pitchFamily="34" charset="-120"/>
              </a:rPr>
              <a:t>Five minutes. Four moments. All real — straight from the data.</a:t>
            </a:r>
            <a:endParaRPr lang="en-US" sz="1700" dirty="0"/>
          </a:p>
        </p:txBody>
      </p:sp>
      <p:sp>
        <p:nvSpPr>
          <p:cNvPr id="5" name="Shape 3"/>
          <p:cNvSpPr/>
          <p:nvPr/>
        </p:nvSpPr>
        <p:spPr>
          <a:xfrm>
            <a:off x="5257800" y="1783080"/>
            <a:ext cx="3200400" cy="2011680"/>
          </a:xfrm>
          <a:prstGeom prst="roundRect">
            <a:avLst>
              <a:gd name="adj" fmla="val 454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6" name="Shape 4"/>
          <p:cNvSpPr/>
          <p:nvPr/>
        </p:nvSpPr>
        <p:spPr>
          <a:xfrm>
            <a:off x="5532120" y="2057400"/>
            <a:ext cx="457200" cy="457200"/>
          </a:xfrm>
          <a:prstGeom prst="ellipse">
            <a:avLst/>
          </a:prstGeom>
          <a:solidFill>
            <a:srgbClr val="0E2230"/>
          </a:solidFill>
          <a:ln w="15875">
            <a:solidFill>
              <a:srgbClr val="22D3EE"/>
            </a:solidFill>
            <a:prstDash val="solid"/>
          </a:ln>
        </p:spPr>
      </p:sp>
      <p:sp>
        <p:nvSpPr>
          <p:cNvPr id="7" name="Text 5"/>
          <p:cNvSpPr/>
          <p:nvPr/>
        </p:nvSpPr>
        <p:spPr>
          <a:xfrm>
            <a:off x="5532120" y="2057400"/>
            <a:ext cx="457200" cy="457200"/>
          </a:xfrm>
          <a:prstGeom prst="rect">
            <a:avLst/>
          </a:prstGeom>
          <a:noFill/>
          <a:ln/>
        </p:spPr>
        <p:txBody>
          <a:bodyPr wrap="square" lIns="0" tIns="0" rIns="0" bIns="0" rtlCol="0" anchor="ctr"/>
          <a:lstStyle/>
          <a:p>
            <a:pPr algn="ctr" indent="0" marL="0">
              <a:buNone/>
            </a:pPr>
            <a:r>
              <a:rPr lang="en-US" sz="1500" b="1" dirty="0">
                <a:solidFill>
                  <a:srgbClr val="22D3EE"/>
                </a:solidFill>
                <a:latin typeface="Arial" pitchFamily="34" charset="0"/>
                <a:ea typeface="Arial" pitchFamily="34" charset="-122"/>
                <a:cs typeface="Arial" pitchFamily="34" charset="-120"/>
              </a:rPr>
              <a:t>1</a:t>
            </a:r>
            <a:endParaRPr lang="en-US" sz="1500" dirty="0"/>
          </a:p>
        </p:txBody>
      </p:sp>
      <p:pic>
        <p:nvPicPr>
          <p:cNvPr id="8" name="Image 0" descr="preencoded.png">    </p:cNvPr>
          <p:cNvPicPr>
            <a:picLocks noChangeAspect="1"/>
          </p:cNvPicPr>
          <p:nvPr/>
        </p:nvPicPr>
        <p:blipFill>
          <a:blip r:embed="rId1"/>
          <a:stretch>
            <a:fillRect/>
          </a:stretch>
        </p:blipFill>
        <p:spPr>
          <a:xfrm>
            <a:off x="7589520" y="2057400"/>
            <a:ext cx="457200" cy="457200"/>
          </a:xfrm>
          <a:prstGeom prst="rect">
            <a:avLst/>
          </a:prstGeom>
        </p:spPr>
      </p:pic>
      <p:sp>
        <p:nvSpPr>
          <p:cNvPr id="9" name="Text 6"/>
          <p:cNvSpPr/>
          <p:nvPr/>
        </p:nvSpPr>
        <p:spPr>
          <a:xfrm>
            <a:off x="5532120" y="2651760"/>
            <a:ext cx="2651760" cy="548640"/>
          </a:xfrm>
          <a:prstGeom prst="rect">
            <a:avLst/>
          </a:prstGeom>
          <a:noFill/>
          <a:ln/>
        </p:spPr>
        <p:txBody>
          <a:bodyPr wrap="square" lIns="0" tIns="0" rIns="0" bIns="0" rtlCol="0" anchor="ctr"/>
          <a:lstStyle/>
          <a:p>
            <a:pPr indent="0" marL="0">
              <a:lnSpc>
                <a:spcPct val="98000"/>
              </a:lnSpc>
              <a:buNone/>
            </a:pPr>
            <a:r>
              <a:rPr lang="en-US" sz="1550" b="1" dirty="0">
                <a:solidFill>
                  <a:srgbClr val="E6EDF3"/>
                </a:solidFill>
                <a:latin typeface="Arial" pitchFamily="34" charset="0"/>
                <a:ea typeface="Arial" pitchFamily="34" charset="-122"/>
                <a:cs typeface="Arial" pitchFamily="34" charset="-120"/>
              </a:rPr>
              <a:t>Document → graph, live</a:t>
            </a:r>
            <a:endParaRPr lang="en-US" sz="1550" dirty="0"/>
          </a:p>
        </p:txBody>
      </p:sp>
      <p:sp>
        <p:nvSpPr>
          <p:cNvPr id="10" name="Text 7"/>
          <p:cNvSpPr/>
          <p:nvPr/>
        </p:nvSpPr>
        <p:spPr>
          <a:xfrm>
            <a:off x="5532120" y="3200400"/>
            <a:ext cx="2697480" cy="502920"/>
          </a:xfrm>
          <a:prstGeom prst="rect">
            <a:avLst/>
          </a:prstGeom>
          <a:noFill/>
          <a:ln/>
        </p:spPr>
        <p:txBody>
          <a:bodyPr wrap="square" lIns="0" tIns="0" rIns="0" bIns="0" rtlCol="0" anchor="ctr"/>
          <a:lstStyle/>
          <a:p>
            <a:pPr indent="0" marL="0">
              <a:lnSpc>
                <a:spcPct val="100000"/>
              </a:lnSpc>
              <a:buNone/>
            </a:pPr>
            <a:r>
              <a:rPr lang="en-US" sz="1250" dirty="0">
                <a:solidFill>
                  <a:srgbClr val="9FB0C0"/>
                </a:solidFill>
                <a:latin typeface="Arial" pitchFamily="34" charset="0"/>
                <a:ea typeface="Arial" pitchFamily="34" charset="-122"/>
                <a:cs typeface="Arial" pitchFamily="34" charset="-120"/>
              </a:rPr>
              <a:t>Drag a file in; watch nodes appear and connect.</a:t>
            </a:r>
            <a:endParaRPr lang="en-US" sz="1250" dirty="0"/>
          </a:p>
        </p:txBody>
      </p:sp>
      <p:sp>
        <p:nvSpPr>
          <p:cNvPr id="11" name="Shape 8"/>
          <p:cNvSpPr/>
          <p:nvPr/>
        </p:nvSpPr>
        <p:spPr>
          <a:xfrm>
            <a:off x="8759952" y="1783080"/>
            <a:ext cx="3200400" cy="2011680"/>
          </a:xfrm>
          <a:prstGeom prst="roundRect">
            <a:avLst>
              <a:gd name="adj" fmla="val 454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2" name="Shape 9"/>
          <p:cNvSpPr/>
          <p:nvPr/>
        </p:nvSpPr>
        <p:spPr>
          <a:xfrm>
            <a:off x="9034272" y="2057400"/>
            <a:ext cx="457200" cy="457200"/>
          </a:xfrm>
          <a:prstGeom prst="ellipse">
            <a:avLst/>
          </a:prstGeom>
          <a:solidFill>
            <a:srgbClr val="0E2230"/>
          </a:solidFill>
          <a:ln w="15875">
            <a:solidFill>
              <a:srgbClr val="EF4444"/>
            </a:solidFill>
            <a:prstDash val="solid"/>
          </a:ln>
        </p:spPr>
      </p:sp>
      <p:sp>
        <p:nvSpPr>
          <p:cNvPr id="13" name="Text 10"/>
          <p:cNvSpPr/>
          <p:nvPr/>
        </p:nvSpPr>
        <p:spPr>
          <a:xfrm>
            <a:off x="9034272" y="2057400"/>
            <a:ext cx="457200" cy="457200"/>
          </a:xfrm>
          <a:prstGeom prst="rect">
            <a:avLst/>
          </a:prstGeom>
          <a:noFill/>
          <a:ln/>
        </p:spPr>
        <p:txBody>
          <a:bodyPr wrap="square" lIns="0" tIns="0" rIns="0" bIns="0" rtlCol="0" anchor="ctr"/>
          <a:lstStyle/>
          <a:p>
            <a:pPr algn="ctr" indent="0" marL="0">
              <a:buNone/>
            </a:pPr>
            <a:r>
              <a:rPr lang="en-US" sz="1500" b="1" dirty="0">
                <a:solidFill>
                  <a:srgbClr val="EF4444"/>
                </a:solidFill>
                <a:latin typeface="Arial" pitchFamily="34" charset="0"/>
                <a:ea typeface="Arial" pitchFamily="34" charset="-122"/>
                <a:cs typeface="Arial" pitchFamily="34" charset="-120"/>
              </a:rPr>
              <a:t>2</a:t>
            </a:r>
            <a:endParaRPr lang="en-US" sz="1500" dirty="0"/>
          </a:p>
        </p:txBody>
      </p:sp>
      <p:pic>
        <p:nvPicPr>
          <p:cNvPr id="14" name="Image 1" descr="preencoded.png">    </p:cNvPr>
          <p:cNvPicPr>
            <a:picLocks noChangeAspect="1"/>
          </p:cNvPicPr>
          <p:nvPr/>
        </p:nvPicPr>
        <p:blipFill>
          <a:blip r:embed="rId2"/>
          <a:stretch>
            <a:fillRect/>
          </a:stretch>
        </p:blipFill>
        <p:spPr>
          <a:xfrm>
            <a:off x="11091672" y="2057400"/>
            <a:ext cx="457200" cy="457200"/>
          </a:xfrm>
          <a:prstGeom prst="rect">
            <a:avLst/>
          </a:prstGeom>
        </p:spPr>
      </p:pic>
      <p:sp>
        <p:nvSpPr>
          <p:cNvPr id="15" name="Text 11"/>
          <p:cNvSpPr/>
          <p:nvPr/>
        </p:nvSpPr>
        <p:spPr>
          <a:xfrm>
            <a:off x="9034272" y="2651760"/>
            <a:ext cx="2651760" cy="548640"/>
          </a:xfrm>
          <a:prstGeom prst="rect">
            <a:avLst/>
          </a:prstGeom>
          <a:noFill/>
          <a:ln/>
        </p:spPr>
        <p:txBody>
          <a:bodyPr wrap="square" lIns="0" tIns="0" rIns="0" bIns="0" rtlCol="0" anchor="ctr"/>
          <a:lstStyle/>
          <a:p>
            <a:pPr indent="0" marL="0">
              <a:lnSpc>
                <a:spcPct val="98000"/>
              </a:lnSpc>
              <a:buNone/>
            </a:pPr>
            <a:r>
              <a:rPr lang="en-US" sz="1550" b="1" dirty="0">
                <a:solidFill>
                  <a:srgbClr val="E6EDF3"/>
                </a:solidFill>
                <a:latin typeface="Arial" pitchFamily="34" charset="0"/>
                <a:ea typeface="Arial" pitchFamily="34" charset="-122"/>
                <a:cs typeface="Arial" pitchFamily="34" charset="-120"/>
              </a:rPr>
              <a:t>The contradiction nobody caught</a:t>
            </a:r>
            <a:endParaRPr lang="en-US" sz="1550" dirty="0"/>
          </a:p>
        </p:txBody>
      </p:sp>
      <p:sp>
        <p:nvSpPr>
          <p:cNvPr id="16" name="Text 12"/>
          <p:cNvSpPr/>
          <p:nvPr/>
        </p:nvSpPr>
        <p:spPr>
          <a:xfrm>
            <a:off x="9034272" y="3200400"/>
            <a:ext cx="2697480" cy="502920"/>
          </a:xfrm>
          <a:prstGeom prst="rect">
            <a:avLst/>
          </a:prstGeom>
          <a:noFill/>
          <a:ln/>
        </p:spPr>
        <p:txBody>
          <a:bodyPr wrap="square" lIns="0" tIns="0" rIns="0" bIns="0" rtlCol="0" anchor="ctr"/>
          <a:lstStyle/>
          <a:p>
            <a:pPr indent="0" marL="0">
              <a:lnSpc>
                <a:spcPct val="100000"/>
              </a:lnSpc>
              <a:buNone/>
            </a:pPr>
            <a:r>
              <a:rPr lang="en-US" sz="1250" dirty="0">
                <a:solidFill>
                  <a:srgbClr val="9FB0C0"/>
                </a:solidFill>
                <a:latin typeface="Arial" pitchFamily="34" charset="0"/>
                <a:ea typeface="Arial" pitchFamily="34" charset="-122"/>
                <a:cs typeface="Arial" pitchFamily="34" charset="-120"/>
              </a:rPr>
              <a:t>Three torque values, one safety alert.</a:t>
            </a:r>
            <a:endParaRPr lang="en-US" sz="1250" dirty="0"/>
          </a:p>
        </p:txBody>
      </p:sp>
      <p:sp>
        <p:nvSpPr>
          <p:cNvPr id="17" name="Shape 13"/>
          <p:cNvSpPr/>
          <p:nvPr/>
        </p:nvSpPr>
        <p:spPr>
          <a:xfrm>
            <a:off x="5257800" y="4096512"/>
            <a:ext cx="3200400" cy="2011680"/>
          </a:xfrm>
          <a:prstGeom prst="roundRect">
            <a:avLst>
              <a:gd name="adj" fmla="val 454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8" name="Shape 14"/>
          <p:cNvSpPr/>
          <p:nvPr/>
        </p:nvSpPr>
        <p:spPr>
          <a:xfrm>
            <a:off x="5532120" y="4370832"/>
            <a:ext cx="457200" cy="457200"/>
          </a:xfrm>
          <a:prstGeom prst="ellipse">
            <a:avLst/>
          </a:prstGeom>
          <a:solidFill>
            <a:srgbClr val="0E2230"/>
          </a:solidFill>
          <a:ln w="15875">
            <a:solidFill>
              <a:srgbClr val="22D3EE"/>
            </a:solidFill>
            <a:prstDash val="solid"/>
          </a:ln>
        </p:spPr>
      </p:sp>
      <p:sp>
        <p:nvSpPr>
          <p:cNvPr id="19" name="Text 15"/>
          <p:cNvSpPr/>
          <p:nvPr/>
        </p:nvSpPr>
        <p:spPr>
          <a:xfrm>
            <a:off x="5532120" y="4370832"/>
            <a:ext cx="457200" cy="457200"/>
          </a:xfrm>
          <a:prstGeom prst="rect">
            <a:avLst/>
          </a:prstGeom>
          <a:noFill/>
          <a:ln/>
        </p:spPr>
        <p:txBody>
          <a:bodyPr wrap="square" lIns="0" tIns="0" rIns="0" bIns="0" rtlCol="0" anchor="ctr"/>
          <a:lstStyle/>
          <a:p>
            <a:pPr algn="ctr" indent="0" marL="0">
              <a:buNone/>
            </a:pPr>
            <a:r>
              <a:rPr lang="en-US" sz="1500" b="1" dirty="0">
                <a:solidFill>
                  <a:srgbClr val="22D3EE"/>
                </a:solidFill>
                <a:latin typeface="Arial" pitchFamily="34" charset="0"/>
                <a:ea typeface="Arial" pitchFamily="34" charset="-122"/>
                <a:cs typeface="Arial" pitchFamily="34" charset="-120"/>
              </a:rPr>
              <a:t>3</a:t>
            </a:r>
            <a:endParaRPr lang="en-US" sz="1500" dirty="0"/>
          </a:p>
        </p:txBody>
      </p:sp>
      <p:pic>
        <p:nvPicPr>
          <p:cNvPr id="20" name="Image 2" descr="preencoded.png">    </p:cNvPr>
          <p:cNvPicPr>
            <a:picLocks noChangeAspect="1"/>
          </p:cNvPicPr>
          <p:nvPr/>
        </p:nvPicPr>
        <p:blipFill>
          <a:blip r:embed="rId3"/>
          <a:stretch>
            <a:fillRect/>
          </a:stretch>
        </p:blipFill>
        <p:spPr>
          <a:xfrm>
            <a:off x="7589520" y="4370832"/>
            <a:ext cx="457200" cy="457200"/>
          </a:xfrm>
          <a:prstGeom prst="rect">
            <a:avLst/>
          </a:prstGeom>
        </p:spPr>
      </p:pic>
      <p:sp>
        <p:nvSpPr>
          <p:cNvPr id="21" name="Text 16"/>
          <p:cNvSpPr/>
          <p:nvPr/>
        </p:nvSpPr>
        <p:spPr>
          <a:xfrm>
            <a:off x="5532120" y="4965192"/>
            <a:ext cx="2651760" cy="548640"/>
          </a:xfrm>
          <a:prstGeom prst="rect">
            <a:avLst/>
          </a:prstGeom>
          <a:noFill/>
          <a:ln/>
        </p:spPr>
        <p:txBody>
          <a:bodyPr wrap="square" lIns="0" tIns="0" rIns="0" bIns="0" rtlCol="0" anchor="ctr"/>
          <a:lstStyle/>
          <a:p>
            <a:pPr indent="0" marL="0">
              <a:lnSpc>
                <a:spcPct val="98000"/>
              </a:lnSpc>
              <a:buNone/>
            </a:pPr>
            <a:r>
              <a:rPr lang="en-US" sz="1550" b="1" dirty="0">
                <a:solidFill>
                  <a:srgbClr val="E6EDF3"/>
                </a:solidFill>
                <a:latin typeface="Arial" pitchFamily="34" charset="0"/>
                <a:ea typeface="Arial" pitchFamily="34" charset="-122"/>
                <a:cs typeface="Arial" pitchFamily="34" charset="-120"/>
              </a:rPr>
              <a:t>Ask, and see it think</a:t>
            </a:r>
            <a:endParaRPr lang="en-US" sz="1550" dirty="0"/>
          </a:p>
        </p:txBody>
      </p:sp>
      <p:sp>
        <p:nvSpPr>
          <p:cNvPr id="22" name="Text 17"/>
          <p:cNvSpPr/>
          <p:nvPr/>
        </p:nvSpPr>
        <p:spPr>
          <a:xfrm>
            <a:off x="5532120" y="5513832"/>
            <a:ext cx="2697480" cy="502920"/>
          </a:xfrm>
          <a:prstGeom prst="rect">
            <a:avLst/>
          </a:prstGeom>
          <a:noFill/>
          <a:ln/>
        </p:spPr>
        <p:txBody>
          <a:bodyPr wrap="square" lIns="0" tIns="0" rIns="0" bIns="0" rtlCol="0" anchor="ctr"/>
          <a:lstStyle/>
          <a:p>
            <a:pPr indent="0" marL="0">
              <a:lnSpc>
                <a:spcPct val="100000"/>
              </a:lnSpc>
              <a:buNone/>
            </a:pPr>
            <a:r>
              <a:rPr lang="en-US" sz="1250" dirty="0">
                <a:solidFill>
                  <a:srgbClr val="9FB0C0"/>
                </a:solidFill>
                <a:latin typeface="Arial" pitchFamily="34" charset="0"/>
                <a:ea typeface="Arial" pitchFamily="34" charset="-122"/>
                <a:cs typeface="Arial" pitchFamily="34" charset="-120"/>
              </a:rPr>
              <a:t>Cited answer + live agent trace + confidence.</a:t>
            </a:r>
            <a:endParaRPr lang="en-US" sz="1250" dirty="0"/>
          </a:p>
        </p:txBody>
      </p:sp>
      <p:sp>
        <p:nvSpPr>
          <p:cNvPr id="23" name="Shape 18"/>
          <p:cNvSpPr/>
          <p:nvPr/>
        </p:nvSpPr>
        <p:spPr>
          <a:xfrm>
            <a:off x="8759952" y="4096512"/>
            <a:ext cx="3200400" cy="2011680"/>
          </a:xfrm>
          <a:prstGeom prst="roundRect">
            <a:avLst>
              <a:gd name="adj" fmla="val 454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4" name="Shape 19"/>
          <p:cNvSpPr/>
          <p:nvPr/>
        </p:nvSpPr>
        <p:spPr>
          <a:xfrm>
            <a:off x="9034272" y="4370832"/>
            <a:ext cx="457200" cy="457200"/>
          </a:xfrm>
          <a:prstGeom prst="ellipse">
            <a:avLst/>
          </a:prstGeom>
          <a:solidFill>
            <a:srgbClr val="0E2230"/>
          </a:solidFill>
          <a:ln w="15875">
            <a:solidFill>
              <a:srgbClr val="22D3EE"/>
            </a:solidFill>
            <a:prstDash val="solid"/>
          </a:ln>
        </p:spPr>
      </p:sp>
      <p:sp>
        <p:nvSpPr>
          <p:cNvPr id="25" name="Text 20"/>
          <p:cNvSpPr/>
          <p:nvPr/>
        </p:nvSpPr>
        <p:spPr>
          <a:xfrm>
            <a:off x="9034272" y="4370832"/>
            <a:ext cx="457200" cy="457200"/>
          </a:xfrm>
          <a:prstGeom prst="rect">
            <a:avLst/>
          </a:prstGeom>
          <a:noFill/>
          <a:ln/>
        </p:spPr>
        <p:txBody>
          <a:bodyPr wrap="square" lIns="0" tIns="0" rIns="0" bIns="0" rtlCol="0" anchor="ctr"/>
          <a:lstStyle/>
          <a:p>
            <a:pPr algn="ctr" indent="0" marL="0">
              <a:buNone/>
            </a:pPr>
            <a:r>
              <a:rPr lang="en-US" sz="1500" b="1" dirty="0">
                <a:solidFill>
                  <a:srgbClr val="22D3EE"/>
                </a:solidFill>
                <a:latin typeface="Arial" pitchFamily="34" charset="0"/>
                <a:ea typeface="Arial" pitchFamily="34" charset="-122"/>
                <a:cs typeface="Arial" pitchFamily="34" charset="-120"/>
              </a:rPr>
              <a:t>4</a:t>
            </a:r>
            <a:endParaRPr lang="en-US" sz="1500" dirty="0"/>
          </a:p>
        </p:txBody>
      </p:sp>
      <p:pic>
        <p:nvPicPr>
          <p:cNvPr id="26" name="Image 3" descr="preencoded.png">    </p:cNvPr>
          <p:cNvPicPr>
            <a:picLocks noChangeAspect="1"/>
          </p:cNvPicPr>
          <p:nvPr/>
        </p:nvPicPr>
        <p:blipFill>
          <a:blip r:embed="rId4"/>
          <a:stretch>
            <a:fillRect/>
          </a:stretch>
        </p:blipFill>
        <p:spPr>
          <a:xfrm>
            <a:off x="11091672" y="4370832"/>
            <a:ext cx="457200" cy="457200"/>
          </a:xfrm>
          <a:prstGeom prst="rect">
            <a:avLst/>
          </a:prstGeom>
        </p:spPr>
      </p:pic>
      <p:sp>
        <p:nvSpPr>
          <p:cNvPr id="27" name="Text 21"/>
          <p:cNvSpPr/>
          <p:nvPr/>
        </p:nvSpPr>
        <p:spPr>
          <a:xfrm>
            <a:off x="9034272" y="4965192"/>
            <a:ext cx="2651760" cy="548640"/>
          </a:xfrm>
          <a:prstGeom prst="rect">
            <a:avLst/>
          </a:prstGeom>
          <a:noFill/>
          <a:ln/>
        </p:spPr>
        <p:txBody>
          <a:bodyPr wrap="square" lIns="0" tIns="0" rIns="0" bIns="0" rtlCol="0" anchor="ctr"/>
          <a:lstStyle/>
          <a:p>
            <a:pPr indent="0" marL="0">
              <a:lnSpc>
                <a:spcPct val="98000"/>
              </a:lnSpc>
              <a:buNone/>
            </a:pPr>
            <a:r>
              <a:rPr lang="en-US" sz="1550" b="1" dirty="0">
                <a:solidFill>
                  <a:srgbClr val="E6EDF3"/>
                </a:solidFill>
                <a:latin typeface="Arial" pitchFamily="34" charset="0"/>
                <a:ea typeface="Arial" pitchFamily="34" charset="-122"/>
                <a:cs typeface="Arial" pitchFamily="34" charset="-120"/>
              </a:rPr>
              <a:t>Root cause + tribal capture</a:t>
            </a:r>
            <a:endParaRPr lang="en-US" sz="1550" dirty="0"/>
          </a:p>
        </p:txBody>
      </p:sp>
      <p:sp>
        <p:nvSpPr>
          <p:cNvPr id="28" name="Text 22"/>
          <p:cNvSpPr/>
          <p:nvPr/>
        </p:nvSpPr>
        <p:spPr>
          <a:xfrm>
            <a:off x="9034272" y="5513832"/>
            <a:ext cx="2697480" cy="502920"/>
          </a:xfrm>
          <a:prstGeom prst="rect">
            <a:avLst/>
          </a:prstGeom>
          <a:noFill/>
          <a:ln/>
        </p:spPr>
        <p:txBody>
          <a:bodyPr wrap="square" lIns="0" tIns="0" rIns="0" bIns="0" rtlCol="0" anchor="ctr"/>
          <a:lstStyle/>
          <a:p>
            <a:pPr indent="0" marL="0">
              <a:lnSpc>
                <a:spcPct val="100000"/>
              </a:lnSpc>
              <a:buNone/>
            </a:pPr>
            <a:r>
              <a:rPr lang="en-US" sz="1250" dirty="0">
                <a:solidFill>
                  <a:srgbClr val="9FB0C0"/>
                </a:solidFill>
                <a:latin typeface="Arial" pitchFamily="34" charset="0"/>
                <a:ea typeface="Arial" pitchFamily="34" charset="-122"/>
                <a:cs typeface="Arial" pitchFamily="34" charset="-120"/>
              </a:rPr>
              <a:t>Auto-RCA, auto-lesson, voice note preserved.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THE DIFFERENTIATOR</a:t>
            </a:r>
            <a:endParaRPr lang="en-US" sz="1250" dirty="0"/>
          </a:p>
        </p:txBody>
      </p:sp>
      <p:sp>
        <p:nvSpPr>
          <p:cNvPr id="3" name="Text 1"/>
          <p:cNvSpPr/>
          <p:nvPr/>
        </p:nvSpPr>
        <p:spPr>
          <a:xfrm>
            <a:off x="548640" y="731520"/>
            <a:ext cx="11091672" cy="868680"/>
          </a:xfrm>
          <a:prstGeom prst="rect">
            <a:avLst/>
          </a:prstGeom>
          <a:noFill/>
          <a:ln/>
        </p:spPr>
        <p:txBody>
          <a:bodyPr wrap="square" lIns="0" tIns="0" rIns="0" bIns="0" rtlCol="0" anchor="t"/>
          <a:lstStyle/>
          <a:p>
            <a:pPr indent="0" marL="0">
              <a:buNone/>
            </a:pPr>
            <a:r>
              <a:rPr lang="en-US" sz="3300" b="1" dirty="0">
                <a:solidFill>
                  <a:srgbClr val="E6EDF3"/>
                </a:solidFill>
                <a:latin typeface="Arial" pitchFamily="34" charset="0"/>
                <a:ea typeface="Arial" pitchFamily="34" charset="-122"/>
                <a:cs typeface="Arial" pitchFamily="34" charset="-120"/>
              </a:rPr>
              <a:t>What a graph does that RAG can't</a:t>
            </a:r>
            <a:endParaRPr lang="en-US" sz="3300" dirty="0"/>
          </a:p>
        </p:txBody>
      </p:sp>
      <p:sp>
        <p:nvSpPr>
          <p:cNvPr id="4" name="Shape 2"/>
          <p:cNvSpPr/>
          <p:nvPr/>
        </p:nvSpPr>
        <p:spPr>
          <a:xfrm>
            <a:off x="3474720" y="2446020"/>
            <a:ext cx="2423160" cy="982980"/>
          </a:xfrm>
          <a:prstGeom prst="line">
            <a:avLst/>
          </a:prstGeom>
          <a:noFill/>
          <a:ln w="15875">
            <a:solidFill>
              <a:srgbClr val="22D3EE">
                <a:alpha val="65000"/>
              </a:srgbClr>
            </a:solidFill>
            <a:prstDash val="solid"/>
          </a:ln>
        </p:spPr>
      </p:sp>
      <p:sp>
        <p:nvSpPr>
          <p:cNvPr id="5" name="Shape 3"/>
          <p:cNvSpPr/>
          <p:nvPr/>
        </p:nvSpPr>
        <p:spPr>
          <a:xfrm>
            <a:off x="3474720" y="3497580"/>
            <a:ext cx="2423160" cy="-68580"/>
          </a:xfrm>
          <a:prstGeom prst="line">
            <a:avLst/>
          </a:prstGeom>
          <a:noFill/>
          <a:ln w="15875">
            <a:solidFill>
              <a:srgbClr val="22D3EE">
                <a:alpha val="65000"/>
              </a:srgbClr>
            </a:solidFill>
            <a:prstDash val="solid"/>
          </a:ln>
        </p:spPr>
      </p:sp>
      <p:sp>
        <p:nvSpPr>
          <p:cNvPr id="6" name="Shape 4"/>
          <p:cNvSpPr/>
          <p:nvPr/>
        </p:nvSpPr>
        <p:spPr>
          <a:xfrm>
            <a:off x="3474720" y="4549140"/>
            <a:ext cx="2423160" cy="-1120140"/>
          </a:xfrm>
          <a:prstGeom prst="line">
            <a:avLst/>
          </a:prstGeom>
          <a:noFill/>
          <a:ln w="15875">
            <a:solidFill>
              <a:srgbClr val="22D3EE">
                <a:alpha val="65000"/>
              </a:srgbClr>
            </a:solidFill>
            <a:prstDash val="solid"/>
          </a:ln>
        </p:spPr>
      </p:sp>
      <p:sp>
        <p:nvSpPr>
          <p:cNvPr id="7" name="Shape 5"/>
          <p:cNvSpPr/>
          <p:nvPr/>
        </p:nvSpPr>
        <p:spPr>
          <a:xfrm>
            <a:off x="731520" y="2057400"/>
            <a:ext cx="2743200" cy="777240"/>
          </a:xfrm>
          <a:prstGeom prst="roundRect">
            <a:avLst>
              <a:gd name="adj" fmla="val 11765"/>
            </a:avLst>
          </a:prstGeom>
          <a:solidFill>
            <a:srgbClr val="1B2838"/>
          </a:solidFill>
          <a:ln w="9525">
            <a:solidFill>
              <a:srgbClr val="243244"/>
            </a:solidFill>
            <a:prstDash val="solid"/>
          </a:ln>
        </p:spPr>
      </p:sp>
      <p:sp>
        <p:nvSpPr>
          <p:cNvPr id="8" name="Text 6"/>
          <p:cNvSpPr/>
          <p:nvPr/>
        </p:nvSpPr>
        <p:spPr>
          <a:xfrm>
            <a:off x="960120" y="2057400"/>
            <a:ext cx="1554480" cy="777240"/>
          </a:xfrm>
          <a:prstGeom prst="rect">
            <a:avLst/>
          </a:prstGeom>
          <a:noFill/>
          <a:ln/>
        </p:spPr>
        <p:txBody>
          <a:bodyPr wrap="square" lIns="0" tIns="0" rIns="0" bIns="0" rtlCol="0" anchor="ctr"/>
          <a:lstStyle/>
          <a:p>
            <a:pPr indent="0" marL="0">
              <a:buNone/>
            </a:pPr>
            <a:r>
              <a:rPr lang="en-US" sz="1350" dirty="0">
                <a:solidFill>
                  <a:srgbClr val="E6EDF3"/>
                </a:solidFill>
                <a:latin typeface="Arial" pitchFamily="34" charset="0"/>
                <a:ea typeface="Arial" pitchFamily="34" charset="-122"/>
                <a:cs typeface="Arial" pitchFamily="34" charset="-120"/>
              </a:rPr>
              <a:t>Equipment manual</a:t>
            </a:r>
            <a:endParaRPr lang="en-US" sz="1350" dirty="0"/>
          </a:p>
        </p:txBody>
      </p:sp>
      <p:sp>
        <p:nvSpPr>
          <p:cNvPr id="9" name="Text 7"/>
          <p:cNvSpPr/>
          <p:nvPr/>
        </p:nvSpPr>
        <p:spPr>
          <a:xfrm>
            <a:off x="2423160" y="2057400"/>
            <a:ext cx="914400" cy="777240"/>
          </a:xfrm>
          <a:prstGeom prst="rect">
            <a:avLst/>
          </a:prstGeom>
          <a:noFill/>
          <a:ln/>
        </p:spPr>
        <p:txBody>
          <a:bodyPr wrap="square" lIns="0" tIns="0" rIns="0" bIns="0" rtlCol="0" anchor="ctr"/>
          <a:lstStyle/>
          <a:p>
            <a:pPr algn="r" indent="0" marL="0">
              <a:buNone/>
            </a:pPr>
            <a:r>
              <a:rPr lang="en-US" sz="1600" b="1" dirty="0">
                <a:solidFill>
                  <a:srgbClr val="22D3EE"/>
                </a:solidFill>
                <a:latin typeface="Courier New" pitchFamily="34" charset="0"/>
                <a:ea typeface="Courier New" pitchFamily="34" charset="-122"/>
                <a:cs typeface="Courier New" pitchFamily="34" charset="-120"/>
              </a:rPr>
              <a:t>95 Nm</a:t>
            </a:r>
            <a:endParaRPr lang="en-US" sz="1600" dirty="0"/>
          </a:p>
        </p:txBody>
      </p:sp>
      <p:sp>
        <p:nvSpPr>
          <p:cNvPr id="10" name="Shape 8"/>
          <p:cNvSpPr/>
          <p:nvPr/>
        </p:nvSpPr>
        <p:spPr>
          <a:xfrm>
            <a:off x="731520" y="3108960"/>
            <a:ext cx="2743200" cy="777240"/>
          </a:xfrm>
          <a:prstGeom prst="roundRect">
            <a:avLst>
              <a:gd name="adj" fmla="val 11765"/>
            </a:avLst>
          </a:prstGeom>
          <a:solidFill>
            <a:srgbClr val="1B2838"/>
          </a:solidFill>
          <a:ln w="9525">
            <a:solidFill>
              <a:srgbClr val="243244"/>
            </a:solidFill>
            <a:prstDash val="solid"/>
          </a:ln>
        </p:spPr>
      </p:sp>
      <p:sp>
        <p:nvSpPr>
          <p:cNvPr id="11" name="Text 9"/>
          <p:cNvSpPr/>
          <p:nvPr/>
        </p:nvSpPr>
        <p:spPr>
          <a:xfrm>
            <a:off x="960120" y="3108960"/>
            <a:ext cx="1554480" cy="777240"/>
          </a:xfrm>
          <a:prstGeom prst="rect">
            <a:avLst/>
          </a:prstGeom>
          <a:noFill/>
          <a:ln/>
        </p:spPr>
        <p:txBody>
          <a:bodyPr wrap="square" lIns="0" tIns="0" rIns="0" bIns="0" rtlCol="0" anchor="ctr"/>
          <a:lstStyle/>
          <a:p>
            <a:pPr indent="0" marL="0">
              <a:buNone/>
            </a:pPr>
            <a:r>
              <a:rPr lang="en-US" sz="1350" dirty="0">
                <a:solidFill>
                  <a:srgbClr val="E6EDF3"/>
                </a:solidFill>
                <a:latin typeface="Arial" pitchFamily="34" charset="0"/>
                <a:ea typeface="Arial" pitchFamily="34" charset="-122"/>
                <a:cs typeface="Arial" pitchFamily="34" charset="-120"/>
              </a:rPr>
              <a:t>SOP-12 rev3</a:t>
            </a:r>
            <a:endParaRPr lang="en-US" sz="1350" dirty="0"/>
          </a:p>
        </p:txBody>
      </p:sp>
      <p:sp>
        <p:nvSpPr>
          <p:cNvPr id="12" name="Text 10"/>
          <p:cNvSpPr/>
          <p:nvPr/>
        </p:nvSpPr>
        <p:spPr>
          <a:xfrm>
            <a:off x="2423160" y="3108960"/>
            <a:ext cx="914400" cy="777240"/>
          </a:xfrm>
          <a:prstGeom prst="rect">
            <a:avLst/>
          </a:prstGeom>
          <a:noFill/>
          <a:ln/>
        </p:spPr>
        <p:txBody>
          <a:bodyPr wrap="square" lIns="0" tIns="0" rIns="0" bIns="0" rtlCol="0" anchor="ctr"/>
          <a:lstStyle/>
          <a:p>
            <a:pPr algn="r" indent="0" marL="0">
              <a:buNone/>
            </a:pPr>
            <a:r>
              <a:rPr lang="en-US" sz="1600" b="1" dirty="0">
                <a:solidFill>
                  <a:srgbClr val="22D3EE"/>
                </a:solidFill>
                <a:latin typeface="Courier New" pitchFamily="34" charset="0"/>
                <a:ea typeface="Courier New" pitchFamily="34" charset="-122"/>
                <a:cs typeface="Courier New" pitchFamily="34" charset="-120"/>
              </a:rPr>
              <a:t>120 Nm</a:t>
            </a:r>
            <a:endParaRPr lang="en-US" sz="1600" dirty="0"/>
          </a:p>
        </p:txBody>
      </p:sp>
      <p:sp>
        <p:nvSpPr>
          <p:cNvPr id="13" name="Shape 11"/>
          <p:cNvSpPr/>
          <p:nvPr/>
        </p:nvSpPr>
        <p:spPr>
          <a:xfrm>
            <a:off x="731520" y="4160520"/>
            <a:ext cx="2743200" cy="777240"/>
          </a:xfrm>
          <a:prstGeom prst="roundRect">
            <a:avLst>
              <a:gd name="adj" fmla="val 11765"/>
            </a:avLst>
          </a:prstGeom>
          <a:solidFill>
            <a:srgbClr val="1B2838"/>
          </a:solidFill>
          <a:ln w="9525">
            <a:solidFill>
              <a:srgbClr val="243244"/>
            </a:solidFill>
            <a:prstDash val="solid"/>
          </a:ln>
        </p:spPr>
      </p:sp>
      <p:sp>
        <p:nvSpPr>
          <p:cNvPr id="14" name="Text 12"/>
          <p:cNvSpPr/>
          <p:nvPr/>
        </p:nvSpPr>
        <p:spPr>
          <a:xfrm>
            <a:off x="960120" y="4160520"/>
            <a:ext cx="1554480" cy="777240"/>
          </a:xfrm>
          <a:prstGeom prst="rect">
            <a:avLst/>
          </a:prstGeom>
          <a:noFill/>
          <a:ln/>
        </p:spPr>
        <p:txBody>
          <a:bodyPr wrap="square" lIns="0" tIns="0" rIns="0" bIns="0" rtlCol="0" anchor="ctr"/>
          <a:lstStyle/>
          <a:p>
            <a:pPr indent="0" marL="0">
              <a:buNone/>
            </a:pPr>
            <a:r>
              <a:rPr lang="en-US" sz="1350" dirty="0">
                <a:solidFill>
                  <a:srgbClr val="E6EDF3"/>
                </a:solidFill>
                <a:latin typeface="Arial" pitchFamily="34" charset="0"/>
                <a:ea typeface="Arial" pitchFamily="34" charset="-122"/>
                <a:cs typeface="Arial" pitchFamily="34" charset="-120"/>
              </a:rPr>
              <a:t>Work orders</a:t>
            </a:r>
            <a:endParaRPr lang="en-US" sz="1350" dirty="0"/>
          </a:p>
        </p:txBody>
      </p:sp>
      <p:sp>
        <p:nvSpPr>
          <p:cNvPr id="15" name="Text 13"/>
          <p:cNvSpPr/>
          <p:nvPr/>
        </p:nvSpPr>
        <p:spPr>
          <a:xfrm>
            <a:off x="2423160" y="4160520"/>
            <a:ext cx="914400" cy="777240"/>
          </a:xfrm>
          <a:prstGeom prst="rect">
            <a:avLst/>
          </a:prstGeom>
          <a:noFill/>
          <a:ln/>
        </p:spPr>
        <p:txBody>
          <a:bodyPr wrap="square" lIns="0" tIns="0" rIns="0" bIns="0" rtlCol="0" anchor="ctr"/>
          <a:lstStyle/>
          <a:p>
            <a:pPr algn="r" indent="0" marL="0">
              <a:buNone/>
            </a:pPr>
            <a:r>
              <a:rPr lang="en-US" sz="1600" b="1" dirty="0">
                <a:solidFill>
                  <a:srgbClr val="22D3EE"/>
                </a:solidFill>
                <a:latin typeface="Courier New" pitchFamily="34" charset="0"/>
                <a:ea typeface="Courier New" pitchFamily="34" charset="-122"/>
                <a:cs typeface="Courier New" pitchFamily="34" charset="-120"/>
              </a:rPr>
              <a:t>140 Nm</a:t>
            </a:r>
            <a:endParaRPr lang="en-US" sz="1600" dirty="0"/>
          </a:p>
        </p:txBody>
      </p:sp>
      <p:sp>
        <p:nvSpPr>
          <p:cNvPr id="16" name="Shape 14"/>
          <p:cNvSpPr/>
          <p:nvPr/>
        </p:nvSpPr>
        <p:spPr>
          <a:xfrm>
            <a:off x="5897880" y="2743200"/>
            <a:ext cx="1371600" cy="1371600"/>
          </a:xfrm>
          <a:prstGeom prst="ellipse">
            <a:avLst/>
          </a:prstGeom>
          <a:solidFill>
            <a:srgbClr val="0E2230"/>
          </a:solidFill>
          <a:ln w="25400">
            <a:solidFill>
              <a:srgbClr val="22D3EE"/>
            </a:solidFill>
            <a:prstDash val="solid"/>
          </a:ln>
        </p:spPr>
      </p:sp>
      <p:sp>
        <p:nvSpPr>
          <p:cNvPr id="17" name="Text 15"/>
          <p:cNvSpPr/>
          <p:nvPr/>
        </p:nvSpPr>
        <p:spPr>
          <a:xfrm>
            <a:off x="5897880" y="2743200"/>
            <a:ext cx="1371600" cy="1371600"/>
          </a:xfrm>
          <a:prstGeom prst="rect">
            <a:avLst/>
          </a:prstGeom>
          <a:noFill/>
          <a:ln/>
        </p:spPr>
        <p:txBody>
          <a:bodyPr wrap="square" lIns="0" tIns="0" rIns="0" bIns="0" rtlCol="0" anchor="ctr"/>
          <a:lstStyle/>
          <a:p>
            <a:pPr algn="ctr" indent="0" marL="0">
              <a:buNone/>
            </a:pPr>
            <a:r>
              <a:rPr lang="en-US" sz="1800" b="1" dirty="0">
                <a:solidFill>
                  <a:srgbClr val="E6EDF3"/>
                </a:solidFill>
                <a:latin typeface="Courier New" pitchFamily="34" charset="0"/>
                <a:ea typeface="Courier New" pitchFamily="34" charset="-122"/>
                <a:cs typeface="Courier New" pitchFamily="34" charset="-120"/>
              </a:rPr>
              <a:t>P-101</a:t>
            </a:r>
            <a:endParaRPr lang="en-US" sz="1800" dirty="0"/>
          </a:p>
        </p:txBody>
      </p:sp>
      <p:sp>
        <p:nvSpPr>
          <p:cNvPr id="18" name="Shape 16"/>
          <p:cNvSpPr/>
          <p:nvPr/>
        </p:nvSpPr>
        <p:spPr>
          <a:xfrm>
            <a:off x="6812280" y="2578608"/>
            <a:ext cx="566928" cy="566928"/>
          </a:xfrm>
          <a:prstGeom prst="ellipse">
            <a:avLst/>
          </a:prstGeom>
          <a:solidFill>
            <a:srgbClr val="2A1416"/>
          </a:solidFill>
          <a:ln w="19050">
            <a:solidFill>
              <a:srgbClr val="EF4444"/>
            </a:solidFill>
            <a:prstDash val="solid"/>
          </a:ln>
        </p:spPr>
      </p:sp>
      <p:pic>
        <p:nvPicPr>
          <p:cNvPr id="19" name="Image 0" descr="preencoded.png">    </p:cNvPr>
          <p:cNvPicPr>
            <a:picLocks noChangeAspect="1"/>
          </p:cNvPicPr>
          <p:nvPr/>
        </p:nvPicPr>
        <p:blipFill>
          <a:blip r:embed="rId1"/>
          <a:stretch>
            <a:fillRect/>
          </a:stretch>
        </p:blipFill>
        <p:spPr>
          <a:xfrm>
            <a:off x="6949440" y="2715768"/>
            <a:ext cx="292608" cy="292608"/>
          </a:xfrm>
          <a:prstGeom prst="rect">
            <a:avLst/>
          </a:prstGeom>
        </p:spPr>
      </p:pic>
      <p:sp>
        <p:nvSpPr>
          <p:cNvPr id="20" name="Text 17"/>
          <p:cNvSpPr/>
          <p:nvPr/>
        </p:nvSpPr>
        <p:spPr>
          <a:xfrm>
            <a:off x="7315200" y="3154680"/>
            <a:ext cx="548640" cy="548640"/>
          </a:xfrm>
          <a:prstGeom prst="rect">
            <a:avLst/>
          </a:prstGeom>
          <a:noFill/>
          <a:ln/>
        </p:spPr>
        <p:txBody>
          <a:bodyPr wrap="square" lIns="0" tIns="0" rIns="0" bIns="0" rtlCol="0" anchor="ctr"/>
          <a:lstStyle/>
          <a:p>
            <a:pPr algn="ctr" indent="0" marL="0">
              <a:buNone/>
            </a:pPr>
            <a:r>
              <a:rPr lang="en-US" sz="3000" b="1" dirty="0">
                <a:solidFill>
                  <a:srgbClr val="22D3EE"/>
                </a:solidFill>
                <a:latin typeface="Arial" pitchFamily="34" charset="0"/>
                <a:ea typeface="Arial" pitchFamily="34" charset="-122"/>
                <a:cs typeface="Arial" pitchFamily="34" charset="-120"/>
              </a:rPr>
              <a:t>→</a:t>
            </a:r>
            <a:endParaRPr lang="en-US" sz="3000" dirty="0"/>
          </a:p>
        </p:txBody>
      </p:sp>
      <p:sp>
        <p:nvSpPr>
          <p:cNvPr id="21" name="Shape 18"/>
          <p:cNvSpPr/>
          <p:nvPr/>
        </p:nvSpPr>
        <p:spPr>
          <a:xfrm>
            <a:off x="8229600" y="2788920"/>
            <a:ext cx="3200400" cy="1280160"/>
          </a:xfrm>
          <a:prstGeom prst="roundRect">
            <a:avLst>
              <a:gd name="adj" fmla="val 7143"/>
            </a:avLst>
          </a:prstGeom>
          <a:solidFill>
            <a:srgbClr val="121821"/>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2" name="Text 19"/>
          <p:cNvSpPr/>
          <p:nvPr/>
        </p:nvSpPr>
        <p:spPr>
          <a:xfrm>
            <a:off x="8503920" y="2990088"/>
            <a:ext cx="2743200" cy="411480"/>
          </a:xfrm>
          <a:prstGeom prst="rect">
            <a:avLst/>
          </a:prstGeom>
          <a:noFill/>
          <a:ln/>
        </p:spPr>
        <p:txBody>
          <a:bodyPr wrap="square" lIns="0" tIns="0" rIns="0" bIns="0" rtlCol="0" anchor="ctr"/>
          <a:lstStyle/>
          <a:p>
            <a:pPr indent="0" marL="0">
              <a:buNone/>
            </a:pPr>
            <a:r>
              <a:rPr lang="en-US" sz="1700" b="1" dirty="0">
                <a:solidFill>
                  <a:srgbClr val="22D3EE"/>
                </a:solidFill>
                <a:latin typeface="Arial" pitchFamily="34" charset="0"/>
                <a:ea typeface="Arial" pitchFamily="34" charset="-122"/>
                <a:cs typeface="Arial" pitchFamily="34" charset="-120"/>
              </a:rPr>
              <a:t>1 reconciled answer</a:t>
            </a:r>
            <a:endParaRPr lang="en-US" sz="1700" dirty="0"/>
          </a:p>
        </p:txBody>
      </p:sp>
      <p:sp>
        <p:nvSpPr>
          <p:cNvPr id="23" name="Text 20"/>
          <p:cNvSpPr/>
          <p:nvPr/>
        </p:nvSpPr>
        <p:spPr>
          <a:xfrm>
            <a:off x="8503920" y="3410712"/>
            <a:ext cx="2697480" cy="594360"/>
          </a:xfrm>
          <a:prstGeom prst="rect">
            <a:avLst/>
          </a:prstGeom>
          <a:noFill/>
          <a:ln/>
        </p:spPr>
        <p:txBody>
          <a:bodyPr wrap="square" lIns="0" tIns="0" rIns="0" bIns="0" rtlCol="0" anchor="ctr"/>
          <a:lstStyle/>
          <a:p>
            <a:pPr indent="0" marL="0">
              <a:lnSpc>
                <a:spcPct val="103000"/>
              </a:lnSpc>
              <a:buNone/>
            </a:pPr>
            <a:r>
              <a:rPr lang="en-US" sz="1300" dirty="0">
                <a:solidFill>
                  <a:srgbClr val="9FB0C0"/>
                </a:solidFill>
                <a:latin typeface="Arial" pitchFamily="34" charset="0"/>
                <a:ea typeface="Arial" pitchFamily="34" charset="-122"/>
                <a:cs typeface="Arial" pitchFamily="34" charset="-120"/>
              </a:rPr>
              <a:t>3 cited sources — manual flagged as the controlling spec.</a:t>
            </a:r>
            <a:endParaRPr lang="en-US" sz="1300" dirty="0"/>
          </a:p>
        </p:txBody>
      </p:sp>
      <p:sp>
        <p:nvSpPr>
          <p:cNvPr id="24" name="Text 21"/>
          <p:cNvSpPr/>
          <p:nvPr/>
        </p:nvSpPr>
        <p:spPr>
          <a:xfrm>
            <a:off x="548640" y="5577840"/>
            <a:ext cx="11091672" cy="822960"/>
          </a:xfrm>
          <a:prstGeom prst="rect">
            <a:avLst/>
          </a:prstGeom>
          <a:noFill/>
          <a:ln/>
        </p:spPr>
        <p:txBody>
          <a:bodyPr wrap="square" lIns="0" tIns="0" rIns="0" bIns="0" rtlCol="0" anchor="ctr"/>
          <a:lstStyle/>
          <a:p>
            <a:pPr indent="0" marL="0">
              <a:buNone/>
            </a:pPr>
            <a:r>
              <a:rPr lang="en-US" sz="1500" i="1" dirty="0">
                <a:solidFill>
                  <a:srgbClr val="9FB0C0"/>
                </a:solidFill>
                <a:latin typeface="Arial" pitchFamily="34" charset="0"/>
                <a:ea typeface="Arial" pitchFamily="34" charset="-122"/>
                <a:cs typeface="Arial" pitchFamily="34" charset="-120"/>
              </a:rPr>
              <a:t>Same asset, same parameter — three values across three documents. NEURON IQ reconciles and cites them. A chatbot picks one and moves 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ARCHITECTURE</a:t>
            </a:r>
            <a:endParaRPr lang="en-US" sz="1250" dirty="0"/>
          </a:p>
        </p:txBody>
      </p:sp>
      <p:sp>
        <p:nvSpPr>
          <p:cNvPr id="3" name="Text 1"/>
          <p:cNvSpPr/>
          <p:nvPr/>
        </p:nvSpPr>
        <p:spPr>
          <a:xfrm>
            <a:off x="548640" y="731520"/>
            <a:ext cx="11091672" cy="868680"/>
          </a:xfrm>
          <a:prstGeom prst="rect">
            <a:avLst/>
          </a:prstGeom>
          <a:noFill/>
          <a:ln/>
        </p:spPr>
        <p:txBody>
          <a:bodyPr wrap="square" lIns="0" tIns="0" rIns="0" bIns="0" rtlCol="0" anchor="t"/>
          <a:lstStyle/>
          <a:p>
            <a:pPr indent="0" marL="0">
              <a:buNone/>
            </a:pPr>
            <a:r>
              <a:rPr lang="en-US" sz="3300" b="1" dirty="0">
                <a:solidFill>
                  <a:srgbClr val="E6EDF3"/>
                </a:solidFill>
                <a:latin typeface="Arial" pitchFamily="34" charset="0"/>
                <a:ea typeface="Arial" pitchFamily="34" charset="-122"/>
                <a:cs typeface="Arial" pitchFamily="34" charset="-120"/>
              </a:rPr>
              <a:t>Five planes, one system</a:t>
            </a:r>
            <a:endParaRPr lang="en-US" sz="3300" dirty="0"/>
          </a:p>
        </p:txBody>
      </p:sp>
      <p:sp>
        <p:nvSpPr>
          <p:cNvPr id="4" name="Text 2"/>
          <p:cNvSpPr/>
          <p:nvPr/>
        </p:nvSpPr>
        <p:spPr>
          <a:xfrm>
            <a:off x="548640" y="1389888"/>
            <a:ext cx="11091672" cy="292608"/>
          </a:xfrm>
          <a:prstGeom prst="rect">
            <a:avLst/>
          </a:prstGeom>
          <a:noFill/>
          <a:ln/>
        </p:spPr>
        <p:txBody>
          <a:bodyPr wrap="square" lIns="0" tIns="0" rIns="0" bIns="0" rtlCol="0" anchor="ctr"/>
          <a:lstStyle/>
          <a:p>
            <a:pPr indent="0" marL="0">
              <a:buNone/>
            </a:pPr>
            <a:r>
              <a:rPr lang="en-US" sz="1250" dirty="0">
                <a:solidFill>
                  <a:srgbClr val="6B7C8C"/>
                </a:solidFill>
                <a:latin typeface="Arial" pitchFamily="34" charset="0"/>
                <a:ea typeface="Arial" pitchFamily="34" charset="-122"/>
                <a:cs typeface="Arial" pitchFamily="34" charset="-120"/>
              </a:rPr>
              <a:t>Multimodal LLM reads P&amp;IDs. Every answer is cited and confidence-scored.</a:t>
            </a:r>
            <a:endParaRPr lang="en-US" sz="1250" dirty="0"/>
          </a:p>
        </p:txBody>
      </p:sp>
      <p:sp>
        <p:nvSpPr>
          <p:cNvPr id="5" name="Shape 3"/>
          <p:cNvSpPr/>
          <p:nvPr/>
        </p:nvSpPr>
        <p:spPr>
          <a:xfrm>
            <a:off x="548640" y="1801368"/>
            <a:ext cx="11091672" cy="758952"/>
          </a:xfrm>
          <a:prstGeom prst="roundRect">
            <a:avLst>
              <a:gd name="adj" fmla="val 12048"/>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6" name="Shape 4"/>
          <p:cNvSpPr/>
          <p:nvPr/>
        </p:nvSpPr>
        <p:spPr>
          <a:xfrm>
            <a:off x="804672" y="1929384"/>
            <a:ext cx="502920" cy="502920"/>
          </a:xfrm>
          <a:prstGeom prst="ellipse">
            <a:avLst/>
          </a:prstGeom>
          <a:solidFill>
            <a:srgbClr val="0E2230"/>
          </a:solidFill>
          <a:ln w="15875">
            <a:solidFill>
              <a:srgbClr val="22D3EE"/>
            </a:solidFill>
            <a:prstDash val="solid"/>
          </a:ln>
        </p:spPr>
      </p:sp>
      <p:pic>
        <p:nvPicPr>
          <p:cNvPr id="7" name="Image 0" descr="preencoded.png">    </p:cNvPr>
          <p:cNvPicPr>
            <a:picLocks noChangeAspect="1"/>
          </p:cNvPicPr>
          <p:nvPr/>
        </p:nvPicPr>
        <p:blipFill>
          <a:blip r:embed="rId1"/>
          <a:stretch>
            <a:fillRect/>
          </a:stretch>
        </p:blipFill>
        <p:spPr>
          <a:xfrm>
            <a:off x="925373" y="2050085"/>
            <a:ext cx="261518" cy="261518"/>
          </a:xfrm>
          <a:prstGeom prst="rect">
            <a:avLst/>
          </a:prstGeom>
        </p:spPr>
      </p:pic>
      <p:sp>
        <p:nvSpPr>
          <p:cNvPr id="8" name="Text 5"/>
          <p:cNvSpPr/>
          <p:nvPr/>
        </p:nvSpPr>
        <p:spPr>
          <a:xfrm>
            <a:off x="1554480" y="1801368"/>
            <a:ext cx="2743200" cy="758952"/>
          </a:xfrm>
          <a:prstGeom prst="rect">
            <a:avLst/>
          </a:prstGeom>
          <a:noFill/>
          <a:ln/>
        </p:spPr>
        <p:txBody>
          <a:bodyPr wrap="square" lIns="0" tIns="0" rIns="0" bIns="0" rtlCol="0" anchor="ctr"/>
          <a:lstStyle/>
          <a:p>
            <a:pPr indent="0" marL="0">
              <a:buNone/>
            </a:pPr>
            <a:r>
              <a:rPr lang="en-US" sz="1600" b="1" dirty="0">
                <a:solidFill>
                  <a:srgbClr val="E6EDF3"/>
                </a:solidFill>
                <a:latin typeface="Arial" pitchFamily="34" charset="0"/>
                <a:ea typeface="Arial" pitchFamily="34" charset="-122"/>
                <a:cs typeface="Arial" pitchFamily="34" charset="-120"/>
              </a:rPr>
              <a:t>Experience</a:t>
            </a:r>
            <a:endParaRPr lang="en-US" sz="1600" dirty="0"/>
          </a:p>
        </p:txBody>
      </p:sp>
      <p:sp>
        <p:nvSpPr>
          <p:cNvPr id="9" name="Text 6"/>
          <p:cNvSpPr/>
          <p:nvPr/>
        </p:nvSpPr>
        <p:spPr>
          <a:xfrm>
            <a:off x="4389120" y="1801368"/>
            <a:ext cx="6976872" cy="758952"/>
          </a:xfrm>
          <a:prstGeom prst="rect">
            <a:avLst/>
          </a:prstGeom>
          <a:noFill/>
          <a:ln/>
        </p:spPr>
        <p:txBody>
          <a:bodyPr wrap="square" lIns="0" tIns="0" rIns="0" bIns="0" rtlCol="0" anchor="ctr"/>
          <a:lstStyle/>
          <a:p>
            <a:pPr indent="0" marL="0">
              <a:buNone/>
            </a:pPr>
            <a:r>
              <a:rPr lang="en-US" sz="1350" dirty="0">
                <a:solidFill>
                  <a:srgbClr val="9FB0C0"/>
                </a:solidFill>
                <a:latin typeface="Arial" pitchFamily="34" charset="0"/>
                <a:ea typeface="Arial" pitchFamily="34" charset="-122"/>
                <a:cs typeface="Arial" pitchFamily="34" charset="-120"/>
              </a:rPr>
              <a:t>Role-aware dashboards (web) + a field mobile app.</a:t>
            </a:r>
            <a:endParaRPr lang="en-US" sz="1350" dirty="0"/>
          </a:p>
        </p:txBody>
      </p:sp>
      <p:sp>
        <p:nvSpPr>
          <p:cNvPr id="10" name="Shape 7"/>
          <p:cNvSpPr/>
          <p:nvPr/>
        </p:nvSpPr>
        <p:spPr>
          <a:xfrm>
            <a:off x="548640" y="2715768"/>
            <a:ext cx="11091672" cy="758952"/>
          </a:xfrm>
          <a:prstGeom prst="roundRect">
            <a:avLst>
              <a:gd name="adj" fmla="val 12048"/>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1" name="Shape 8"/>
          <p:cNvSpPr/>
          <p:nvPr/>
        </p:nvSpPr>
        <p:spPr>
          <a:xfrm>
            <a:off x="804672" y="2843784"/>
            <a:ext cx="502920" cy="502920"/>
          </a:xfrm>
          <a:prstGeom prst="ellipse">
            <a:avLst/>
          </a:prstGeom>
          <a:solidFill>
            <a:srgbClr val="0E2230"/>
          </a:solidFill>
          <a:ln w="15875">
            <a:solidFill>
              <a:srgbClr val="22D3EE"/>
            </a:solidFill>
            <a:prstDash val="solid"/>
          </a:ln>
        </p:spPr>
      </p:sp>
      <p:pic>
        <p:nvPicPr>
          <p:cNvPr id="12" name="Image 1" descr="preencoded.png">    </p:cNvPr>
          <p:cNvPicPr>
            <a:picLocks noChangeAspect="1"/>
          </p:cNvPicPr>
          <p:nvPr/>
        </p:nvPicPr>
        <p:blipFill>
          <a:blip r:embed="rId2"/>
          <a:stretch>
            <a:fillRect/>
          </a:stretch>
        </p:blipFill>
        <p:spPr>
          <a:xfrm>
            <a:off x="925373" y="2964485"/>
            <a:ext cx="261518" cy="261518"/>
          </a:xfrm>
          <a:prstGeom prst="rect">
            <a:avLst/>
          </a:prstGeom>
        </p:spPr>
      </p:pic>
      <p:sp>
        <p:nvSpPr>
          <p:cNvPr id="13" name="Text 9"/>
          <p:cNvSpPr/>
          <p:nvPr/>
        </p:nvSpPr>
        <p:spPr>
          <a:xfrm>
            <a:off x="1554480" y="2715768"/>
            <a:ext cx="2743200" cy="758952"/>
          </a:xfrm>
          <a:prstGeom prst="rect">
            <a:avLst/>
          </a:prstGeom>
          <a:noFill/>
          <a:ln/>
        </p:spPr>
        <p:txBody>
          <a:bodyPr wrap="square" lIns="0" tIns="0" rIns="0" bIns="0" rtlCol="0" anchor="ctr"/>
          <a:lstStyle/>
          <a:p>
            <a:pPr indent="0" marL="0">
              <a:buNone/>
            </a:pPr>
            <a:r>
              <a:rPr lang="en-US" sz="1600" b="1" dirty="0">
                <a:solidFill>
                  <a:srgbClr val="E6EDF3"/>
                </a:solidFill>
                <a:latin typeface="Arial" pitchFamily="34" charset="0"/>
                <a:ea typeface="Arial" pitchFamily="34" charset="-122"/>
                <a:cs typeface="Arial" pitchFamily="34" charset="-120"/>
              </a:rPr>
              <a:t>API</a:t>
            </a:r>
            <a:endParaRPr lang="en-US" sz="1600" dirty="0"/>
          </a:p>
        </p:txBody>
      </p:sp>
      <p:sp>
        <p:nvSpPr>
          <p:cNvPr id="14" name="Text 10"/>
          <p:cNvSpPr/>
          <p:nvPr/>
        </p:nvSpPr>
        <p:spPr>
          <a:xfrm>
            <a:off x="4389120" y="2715768"/>
            <a:ext cx="6976872" cy="758952"/>
          </a:xfrm>
          <a:prstGeom prst="rect">
            <a:avLst/>
          </a:prstGeom>
          <a:noFill/>
          <a:ln/>
        </p:spPr>
        <p:txBody>
          <a:bodyPr wrap="square" lIns="0" tIns="0" rIns="0" bIns="0" rtlCol="0" anchor="ctr"/>
          <a:lstStyle/>
          <a:p>
            <a:pPr indent="0" marL="0">
              <a:buNone/>
            </a:pPr>
            <a:r>
              <a:rPr lang="en-US" sz="1350" dirty="0">
                <a:solidFill>
                  <a:srgbClr val="9FB0C0"/>
                </a:solidFill>
                <a:latin typeface="Arial" pitchFamily="34" charset="0"/>
                <a:ea typeface="Arial" pitchFamily="34" charset="-122"/>
                <a:cs typeface="Arial" pitchFamily="34" charset="-120"/>
              </a:rPr>
              <a:t>REST + WebSocket · authentication · role-based access.</a:t>
            </a:r>
            <a:endParaRPr lang="en-US" sz="1350" dirty="0"/>
          </a:p>
        </p:txBody>
      </p:sp>
      <p:sp>
        <p:nvSpPr>
          <p:cNvPr id="15" name="Shape 11"/>
          <p:cNvSpPr/>
          <p:nvPr/>
        </p:nvSpPr>
        <p:spPr>
          <a:xfrm>
            <a:off x="548640" y="3630168"/>
            <a:ext cx="11091672" cy="758952"/>
          </a:xfrm>
          <a:prstGeom prst="roundRect">
            <a:avLst>
              <a:gd name="adj" fmla="val 12048"/>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6" name="Shape 12"/>
          <p:cNvSpPr/>
          <p:nvPr/>
        </p:nvSpPr>
        <p:spPr>
          <a:xfrm>
            <a:off x="804672" y="3758184"/>
            <a:ext cx="502920" cy="502920"/>
          </a:xfrm>
          <a:prstGeom prst="ellipse">
            <a:avLst/>
          </a:prstGeom>
          <a:solidFill>
            <a:srgbClr val="0E2230"/>
          </a:solidFill>
          <a:ln w="15875">
            <a:solidFill>
              <a:srgbClr val="22D3EE"/>
            </a:solidFill>
            <a:prstDash val="solid"/>
          </a:ln>
        </p:spPr>
      </p:sp>
      <p:pic>
        <p:nvPicPr>
          <p:cNvPr id="17" name="Image 2" descr="preencoded.png">    </p:cNvPr>
          <p:cNvPicPr>
            <a:picLocks noChangeAspect="1"/>
          </p:cNvPicPr>
          <p:nvPr/>
        </p:nvPicPr>
        <p:blipFill>
          <a:blip r:embed="rId3"/>
          <a:stretch>
            <a:fillRect/>
          </a:stretch>
        </p:blipFill>
        <p:spPr>
          <a:xfrm>
            <a:off x="925373" y="3878885"/>
            <a:ext cx="261518" cy="261518"/>
          </a:xfrm>
          <a:prstGeom prst="rect">
            <a:avLst/>
          </a:prstGeom>
        </p:spPr>
      </p:pic>
      <p:sp>
        <p:nvSpPr>
          <p:cNvPr id="18" name="Text 13"/>
          <p:cNvSpPr/>
          <p:nvPr/>
        </p:nvSpPr>
        <p:spPr>
          <a:xfrm>
            <a:off x="1554480" y="3630168"/>
            <a:ext cx="2743200" cy="758952"/>
          </a:xfrm>
          <a:prstGeom prst="rect">
            <a:avLst/>
          </a:prstGeom>
          <a:noFill/>
          <a:ln/>
        </p:spPr>
        <p:txBody>
          <a:bodyPr wrap="square" lIns="0" tIns="0" rIns="0" bIns="0" rtlCol="0" anchor="ctr"/>
          <a:lstStyle/>
          <a:p>
            <a:pPr indent="0" marL="0">
              <a:buNone/>
            </a:pPr>
            <a:r>
              <a:rPr lang="en-US" sz="1600" b="1" dirty="0">
                <a:solidFill>
                  <a:srgbClr val="E6EDF3"/>
                </a:solidFill>
                <a:latin typeface="Arial" pitchFamily="34" charset="0"/>
                <a:ea typeface="Arial" pitchFamily="34" charset="-122"/>
                <a:cs typeface="Arial" pitchFamily="34" charset="-120"/>
              </a:rPr>
              <a:t>Intelligence</a:t>
            </a:r>
            <a:endParaRPr lang="en-US" sz="1600" dirty="0"/>
          </a:p>
        </p:txBody>
      </p:sp>
      <p:sp>
        <p:nvSpPr>
          <p:cNvPr id="19" name="Text 14"/>
          <p:cNvSpPr/>
          <p:nvPr/>
        </p:nvSpPr>
        <p:spPr>
          <a:xfrm>
            <a:off x="4389120" y="3630168"/>
            <a:ext cx="6976872" cy="758952"/>
          </a:xfrm>
          <a:prstGeom prst="rect">
            <a:avLst/>
          </a:prstGeom>
          <a:noFill/>
          <a:ln/>
        </p:spPr>
        <p:txBody>
          <a:bodyPr wrap="square" lIns="0" tIns="0" rIns="0" bIns="0" rtlCol="0" anchor="ctr"/>
          <a:lstStyle/>
          <a:p>
            <a:pPr indent="0" marL="0">
              <a:buNone/>
            </a:pPr>
            <a:r>
              <a:rPr lang="en-US" sz="1350" dirty="0">
                <a:solidFill>
                  <a:srgbClr val="9FB0C0"/>
                </a:solidFill>
                <a:latin typeface="Arial" pitchFamily="34" charset="0"/>
                <a:ea typeface="Arial" pitchFamily="34" charset="-122"/>
                <a:cs typeface="Arial" pitchFamily="34" charset="-120"/>
              </a:rPr>
              <a:t>8-agent LangGraph · graph-augmented RAG · LLM gateway.</a:t>
            </a:r>
            <a:endParaRPr lang="en-US" sz="1350" dirty="0"/>
          </a:p>
        </p:txBody>
      </p:sp>
      <p:sp>
        <p:nvSpPr>
          <p:cNvPr id="20" name="Shape 15"/>
          <p:cNvSpPr/>
          <p:nvPr/>
        </p:nvSpPr>
        <p:spPr>
          <a:xfrm>
            <a:off x="548640" y="4544568"/>
            <a:ext cx="11091672" cy="758952"/>
          </a:xfrm>
          <a:prstGeom prst="roundRect">
            <a:avLst>
              <a:gd name="adj" fmla="val 12048"/>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1" name="Shape 16"/>
          <p:cNvSpPr/>
          <p:nvPr/>
        </p:nvSpPr>
        <p:spPr>
          <a:xfrm>
            <a:off x="804672" y="4672584"/>
            <a:ext cx="502920" cy="502920"/>
          </a:xfrm>
          <a:prstGeom prst="ellipse">
            <a:avLst/>
          </a:prstGeom>
          <a:solidFill>
            <a:srgbClr val="0E2230"/>
          </a:solidFill>
          <a:ln w="15875">
            <a:solidFill>
              <a:srgbClr val="22D3EE"/>
            </a:solidFill>
            <a:prstDash val="solid"/>
          </a:ln>
        </p:spPr>
      </p:sp>
      <p:pic>
        <p:nvPicPr>
          <p:cNvPr id="22" name="Image 3" descr="preencoded.png">    </p:cNvPr>
          <p:cNvPicPr>
            <a:picLocks noChangeAspect="1"/>
          </p:cNvPicPr>
          <p:nvPr/>
        </p:nvPicPr>
        <p:blipFill>
          <a:blip r:embed="rId4"/>
          <a:stretch>
            <a:fillRect/>
          </a:stretch>
        </p:blipFill>
        <p:spPr>
          <a:xfrm>
            <a:off x="925373" y="4793285"/>
            <a:ext cx="261518" cy="261518"/>
          </a:xfrm>
          <a:prstGeom prst="rect">
            <a:avLst/>
          </a:prstGeom>
        </p:spPr>
      </p:pic>
      <p:sp>
        <p:nvSpPr>
          <p:cNvPr id="23" name="Text 17"/>
          <p:cNvSpPr/>
          <p:nvPr/>
        </p:nvSpPr>
        <p:spPr>
          <a:xfrm>
            <a:off x="1554480" y="4544568"/>
            <a:ext cx="2743200" cy="758952"/>
          </a:xfrm>
          <a:prstGeom prst="rect">
            <a:avLst/>
          </a:prstGeom>
          <a:noFill/>
          <a:ln/>
        </p:spPr>
        <p:txBody>
          <a:bodyPr wrap="square" lIns="0" tIns="0" rIns="0" bIns="0" rtlCol="0" anchor="ctr"/>
          <a:lstStyle/>
          <a:p>
            <a:pPr indent="0" marL="0">
              <a:buNone/>
            </a:pPr>
            <a:r>
              <a:rPr lang="en-US" sz="1600" b="1" dirty="0">
                <a:solidFill>
                  <a:srgbClr val="E6EDF3"/>
                </a:solidFill>
                <a:latin typeface="Arial" pitchFamily="34" charset="0"/>
                <a:ea typeface="Arial" pitchFamily="34" charset="-122"/>
                <a:cs typeface="Arial" pitchFamily="34" charset="-120"/>
              </a:rPr>
              <a:t>Knowledge</a:t>
            </a:r>
            <a:endParaRPr lang="en-US" sz="1600" dirty="0"/>
          </a:p>
        </p:txBody>
      </p:sp>
      <p:sp>
        <p:nvSpPr>
          <p:cNvPr id="24" name="Text 18"/>
          <p:cNvSpPr/>
          <p:nvPr/>
        </p:nvSpPr>
        <p:spPr>
          <a:xfrm>
            <a:off x="4389120" y="4544568"/>
            <a:ext cx="6976872" cy="758952"/>
          </a:xfrm>
          <a:prstGeom prst="rect">
            <a:avLst/>
          </a:prstGeom>
          <a:noFill/>
          <a:ln/>
        </p:spPr>
        <p:txBody>
          <a:bodyPr wrap="square" lIns="0" tIns="0" rIns="0" bIns="0" rtlCol="0" anchor="ctr"/>
          <a:lstStyle/>
          <a:p>
            <a:pPr indent="0" marL="0">
              <a:buNone/>
            </a:pPr>
            <a:r>
              <a:rPr lang="en-US" sz="1350" dirty="0">
                <a:solidFill>
                  <a:srgbClr val="9FB0C0"/>
                </a:solidFill>
                <a:latin typeface="Arial" pitchFamily="34" charset="0"/>
                <a:ea typeface="Arial" pitchFamily="34" charset="-122"/>
                <a:cs typeface="Arial" pitchFamily="34" charset="-120"/>
              </a:rPr>
              <a:t>Neo4j graph · Qdrant vectors · PostgreSQL · MinIO.</a:t>
            </a:r>
            <a:endParaRPr lang="en-US" sz="1350" dirty="0"/>
          </a:p>
        </p:txBody>
      </p:sp>
      <p:sp>
        <p:nvSpPr>
          <p:cNvPr id="25" name="Shape 19"/>
          <p:cNvSpPr/>
          <p:nvPr/>
        </p:nvSpPr>
        <p:spPr>
          <a:xfrm>
            <a:off x="548640" y="5458968"/>
            <a:ext cx="11091672" cy="758952"/>
          </a:xfrm>
          <a:prstGeom prst="roundRect">
            <a:avLst>
              <a:gd name="adj" fmla="val 12048"/>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6" name="Shape 20"/>
          <p:cNvSpPr/>
          <p:nvPr/>
        </p:nvSpPr>
        <p:spPr>
          <a:xfrm>
            <a:off x="804672" y="5586984"/>
            <a:ext cx="502920" cy="502920"/>
          </a:xfrm>
          <a:prstGeom prst="ellipse">
            <a:avLst/>
          </a:prstGeom>
          <a:solidFill>
            <a:srgbClr val="0E2230"/>
          </a:solidFill>
          <a:ln w="15875">
            <a:solidFill>
              <a:srgbClr val="22D3EE"/>
            </a:solidFill>
            <a:prstDash val="solid"/>
          </a:ln>
        </p:spPr>
      </p:sp>
      <p:pic>
        <p:nvPicPr>
          <p:cNvPr id="27" name="Image 4" descr="preencoded.png">    </p:cNvPr>
          <p:cNvPicPr>
            <a:picLocks noChangeAspect="1"/>
          </p:cNvPicPr>
          <p:nvPr/>
        </p:nvPicPr>
        <p:blipFill>
          <a:blip r:embed="rId5"/>
          <a:stretch>
            <a:fillRect/>
          </a:stretch>
        </p:blipFill>
        <p:spPr>
          <a:xfrm>
            <a:off x="925373" y="5707685"/>
            <a:ext cx="261518" cy="261518"/>
          </a:xfrm>
          <a:prstGeom prst="rect">
            <a:avLst/>
          </a:prstGeom>
        </p:spPr>
      </p:pic>
      <p:sp>
        <p:nvSpPr>
          <p:cNvPr id="28" name="Text 21"/>
          <p:cNvSpPr/>
          <p:nvPr/>
        </p:nvSpPr>
        <p:spPr>
          <a:xfrm>
            <a:off x="1554480" y="5458968"/>
            <a:ext cx="2743200" cy="758952"/>
          </a:xfrm>
          <a:prstGeom prst="rect">
            <a:avLst/>
          </a:prstGeom>
          <a:noFill/>
          <a:ln/>
        </p:spPr>
        <p:txBody>
          <a:bodyPr wrap="square" lIns="0" tIns="0" rIns="0" bIns="0" rtlCol="0" anchor="ctr"/>
          <a:lstStyle/>
          <a:p>
            <a:pPr indent="0" marL="0">
              <a:buNone/>
            </a:pPr>
            <a:r>
              <a:rPr lang="en-US" sz="1600" b="1" dirty="0">
                <a:solidFill>
                  <a:srgbClr val="E6EDF3"/>
                </a:solidFill>
                <a:latin typeface="Arial" pitchFamily="34" charset="0"/>
                <a:ea typeface="Arial" pitchFamily="34" charset="-122"/>
                <a:cs typeface="Arial" pitchFamily="34" charset="-120"/>
              </a:rPr>
              <a:t>Ingestion</a:t>
            </a:r>
            <a:endParaRPr lang="en-US" sz="1600" dirty="0"/>
          </a:p>
        </p:txBody>
      </p:sp>
      <p:sp>
        <p:nvSpPr>
          <p:cNvPr id="29" name="Text 22"/>
          <p:cNvSpPr/>
          <p:nvPr/>
        </p:nvSpPr>
        <p:spPr>
          <a:xfrm>
            <a:off x="4389120" y="5458968"/>
            <a:ext cx="6976872" cy="758952"/>
          </a:xfrm>
          <a:prstGeom prst="rect">
            <a:avLst/>
          </a:prstGeom>
          <a:noFill/>
          <a:ln/>
        </p:spPr>
        <p:txBody>
          <a:bodyPr wrap="square" lIns="0" tIns="0" rIns="0" bIns="0" rtlCol="0" anchor="ctr"/>
          <a:lstStyle/>
          <a:p>
            <a:pPr indent="0" marL="0">
              <a:buNone/>
            </a:pPr>
            <a:r>
              <a:rPr lang="en-US" sz="1350" dirty="0">
                <a:solidFill>
                  <a:srgbClr val="9FB0C0"/>
                </a:solidFill>
                <a:latin typeface="Arial" pitchFamily="34" charset="0"/>
                <a:ea typeface="Arial" pitchFamily="34" charset="-122"/>
                <a:cs typeface="Arial" pitchFamily="34" charset="-120"/>
              </a:rPr>
              <a:t>OCR · tables · P&amp;ID vision · entity &amp; relationship extraction.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A NEW KPI</a:t>
            </a:r>
            <a:endParaRPr lang="en-US" sz="1250" dirty="0"/>
          </a:p>
        </p:txBody>
      </p:sp>
      <p:sp>
        <p:nvSpPr>
          <p:cNvPr id="3" name="Text 1"/>
          <p:cNvSpPr/>
          <p:nvPr/>
        </p:nvSpPr>
        <p:spPr>
          <a:xfrm>
            <a:off x="548640" y="731520"/>
            <a:ext cx="11091672" cy="868680"/>
          </a:xfrm>
          <a:prstGeom prst="rect">
            <a:avLst/>
          </a:prstGeom>
          <a:noFill/>
          <a:ln/>
        </p:spPr>
        <p:txBody>
          <a:bodyPr wrap="square" lIns="0" tIns="0" rIns="0" bIns="0" rtlCol="0" anchor="t"/>
          <a:lstStyle/>
          <a:p>
            <a:pPr indent="0" marL="0">
              <a:buNone/>
            </a:pPr>
            <a:r>
              <a:rPr lang="en-US" sz="3300" b="1" dirty="0">
                <a:solidFill>
                  <a:srgbClr val="E6EDF3"/>
                </a:solidFill>
                <a:latin typeface="Arial" pitchFamily="34" charset="0"/>
                <a:ea typeface="Arial" pitchFamily="34" charset="-122"/>
                <a:cs typeface="Arial" pitchFamily="34" charset="-120"/>
              </a:rPr>
              <a:t>Knowledge Health = Completeness × Freshness</a:t>
            </a:r>
            <a:endParaRPr lang="en-US" sz="3300" dirty="0"/>
          </a:p>
        </p:txBody>
      </p:sp>
      <p:sp>
        <p:nvSpPr>
          <p:cNvPr id="4" name="Shape 2"/>
          <p:cNvSpPr/>
          <p:nvPr/>
        </p:nvSpPr>
        <p:spPr>
          <a:xfrm>
            <a:off x="777240" y="1965960"/>
            <a:ext cx="0" cy="4114800"/>
          </a:xfrm>
          <a:prstGeom prst="line">
            <a:avLst/>
          </a:prstGeom>
          <a:noFill/>
          <a:ln w="15875">
            <a:solidFill>
              <a:srgbClr val="243244"/>
            </a:solidFill>
            <a:prstDash val="solid"/>
          </a:ln>
        </p:spPr>
      </p:sp>
      <p:sp>
        <p:nvSpPr>
          <p:cNvPr id="5" name="Shape 3"/>
          <p:cNvSpPr/>
          <p:nvPr/>
        </p:nvSpPr>
        <p:spPr>
          <a:xfrm>
            <a:off x="777240" y="6080760"/>
            <a:ext cx="5669280" cy="0"/>
          </a:xfrm>
          <a:prstGeom prst="line">
            <a:avLst/>
          </a:prstGeom>
          <a:noFill/>
          <a:ln w="15875">
            <a:solidFill>
              <a:srgbClr val="243244"/>
            </a:solidFill>
            <a:prstDash val="solid"/>
          </a:ln>
        </p:spPr>
      </p:sp>
      <p:sp>
        <p:nvSpPr>
          <p:cNvPr id="6" name="Text 4"/>
          <p:cNvSpPr/>
          <p:nvPr/>
        </p:nvSpPr>
        <p:spPr>
          <a:xfrm rot="16200000">
            <a:off x="365760" y="1920240"/>
            <a:ext cx="2194560" cy="320040"/>
          </a:xfrm>
          <a:prstGeom prst="rect">
            <a:avLst/>
          </a:prstGeom>
          <a:noFill/>
          <a:ln/>
        </p:spPr>
        <p:txBody>
          <a:bodyPr wrap="square" lIns="0" tIns="0" rIns="0" bIns="0" rtlCol="0" anchor="ctr"/>
          <a:lstStyle/>
          <a:p>
            <a:pPr indent="0" marL="0">
              <a:buNone/>
            </a:pPr>
            <a:r>
              <a:rPr lang="en-US" sz="1100" dirty="0">
                <a:solidFill>
                  <a:srgbClr val="6B7C8C"/>
                </a:solidFill>
                <a:latin typeface="Arial" pitchFamily="34" charset="0"/>
                <a:ea typeface="Arial" pitchFamily="34" charset="-122"/>
                <a:cs typeface="Arial" pitchFamily="34" charset="-120"/>
              </a:rPr>
              <a:t>Completeness</a:t>
            </a:r>
            <a:endParaRPr lang="en-US" sz="1100" dirty="0"/>
          </a:p>
        </p:txBody>
      </p:sp>
      <p:sp>
        <p:nvSpPr>
          <p:cNvPr id="7" name="Text 5"/>
          <p:cNvSpPr/>
          <p:nvPr/>
        </p:nvSpPr>
        <p:spPr>
          <a:xfrm>
            <a:off x="4800600" y="6135624"/>
            <a:ext cx="1645920" cy="274320"/>
          </a:xfrm>
          <a:prstGeom prst="rect">
            <a:avLst/>
          </a:prstGeom>
          <a:noFill/>
          <a:ln/>
        </p:spPr>
        <p:txBody>
          <a:bodyPr wrap="square" lIns="0" tIns="0" rIns="0" bIns="0" rtlCol="0" anchor="ctr"/>
          <a:lstStyle/>
          <a:p>
            <a:pPr algn="r" indent="0" marL="0">
              <a:buNone/>
            </a:pPr>
            <a:r>
              <a:rPr lang="en-US" sz="1100" dirty="0">
                <a:solidFill>
                  <a:srgbClr val="6B7C8C"/>
                </a:solidFill>
                <a:latin typeface="Arial" pitchFamily="34" charset="0"/>
                <a:ea typeface="Arial" pitchFamily="34" charset="-122"/>
                <a:cs typeface="Arial" pitchFamily="34" charset="-120"/>
              </a:rPr>
              <a:t>Freshness →</a:t>
            </a:r>
            <a:endParaRPr lang="en-US" sz="1100" dirty="0"/>
          </a:p>
        </p:txBody>
      </p:sp>
      <p:sp>
        <p:nvSpPr>
          <p:cNvPr id="8" name="Text 6"/>
          <p:cNvSpPr/>
          <p:nvPr/>
        </p:nvSpPr>
        <p:spPr>
          <a:xfrm>
            <a:off x="914400" y="2057400"/>
            <a:ext cx="2468880" cy="274320"/>
          </a:xfrm>
          <a:prstGeom prst="rect">
            <a:avLst/>
          </a:prstGeom>
          <a:noFill/>
          <a:ln/>
        </p:spPr>
        <p:txBody>
          <a:bodyPr wrap="square" lIns="0" tIns="0" rIns="0" bIns="0" rtlCol="0" anchor="ctr"/>
          <a:lstStyle/>
          <a:p>
            <a:pPr indent="0" marL="0">
              <a:buNone/>
            </a:pPr>
            <a:r>
              <a:rPr lang="en-US" sz="1100" b="1" dirty="0">
                <a:solidFill>
                  <a:srgbClr val="F59E0B"/>
                </a:solidFill>
                <a:latin typeface="Arial" pitchFamily="34" charset="0"/>
                <a:ea typeface="Arial" pitchFamily="34" charset="-122"/>
                <a:cs typeface="Arial" pitchFamily="34" charset="-120"/>
              </a:rPr>
              <a:t>Documented but stale</a:t>
            </a:r>
            <a:endParaRPr lang="en-US" sz="1100" dirty="0"/>
          </a:p>
        </p:txBody>
      </p:sp>
      <p:sp>
        <p:nvSpPr>
          <p:cNvPr id="9" name="Text 7"/>
          <p:cNvSpPr/>
          <p:nvPr/>
        </p:nvSpPr>
        <p:spPr>
          <a:xfrm>
            <a:off x="4983480" y="2057400"/>
            <a:ext cx="1371600" cy="274320"/>
          </a:xfrm>
          <a:prstGeom prst="rect">
            <a:avLst/>
          </a:prstGeom>
          <a:noFill/>
          <a:ln/>
        </p:spPr>
        <p:txBody>
          <a:bodyPr wrap="square" lIns="0" tIns="0" rIns="0" bIns="0" rtlCol="0" anchor="ctr"/>
          <a:lstStyle/>
          <a:p>
            <a:pPr algn="r" indent="0" marL="0">
              <a:buNone/>
            </a:pPr>
            <a:r>
              <a:rPr lang="en-US" sz="1100" b="1" dirty="0">
                <a:solidFill>
                  <a:srgbClr val="22C55E"/>
                </a:solidFill>
                <a:latin typeface="Arial" pitchFamily="34" charset="0"/>
                <a:ea typeface="Arial" pitchFamily="34" charset="-122"/>
                <a:cs typeface="Arial" pitchFamily="34" charset="-120"/>
              </a:rPr>
              <a:t>Healthy</a:t>
            </a:r>
            <a:endParaRPr lang="en-US" sz="1100" dirty="0"/>
          </a:p>
        </p:txBody>
      </p:sp>
      <p:sp>
        <p:nvSpPr>
          <p:cNvPr id="10" name="Text 8"/>
          <p:cNvSpPr/>
          <p:nvPr/>
        </p:nvSpPr>
        <p:spPr>
          <a:xfrm>
            <a:off x="914400" y="5696712"/>
            <a:ext cx="1828800" cy="274320"/>
          </a:xfrm>
          <a:prstGeom prst="rect">
            <a:avLst/>
          </a:prstGeom>
          <a:noFill/>
          <a:ln/>
        </p:spPr>
        <p:txBody>
          <a:bodyPr wrap="square" lIns="0" tIns="0" rIns="0" bIns="0" rtlCol="0" anchor="ctr"/>
          <a:lstStyle/>
          <a:p>
            <a:pPr indent="0" marL="0">
              <a:buNone/>
            </a:pPr>
            <a:r>
              <a:rPr lang="en-US" sz="1100" b="1" dirty="0">
                <a:solidFill>
                  <a:srgbClr val="EF4444"/>
                </a:solidFill>
                <a:latin typeface="Arial" pitchFamily="34" charset="0"/>
                <a:ea typeface="Arial" pitchFamily="34" charset="-122"/>
                <a:cs typeface="Arial" pitchFamily="34" charset="-120"/>
              </a:rPr>
              <a:t>Blind spots</a:t>
            </a:r>
            <a:endParaRPr lang="en-US" sz="1100" dirty="0"/>
          </a:p>
        </p:txBody>
      </p:sp>
      <p:sp>
        <p:nvSpPr>
          <p:cNvPr id="11" name="Text 9"/>
          <p:cNvSpPr/>
          <p:nvPr/>
        </p:nvSpPr>
        <p:spPr>
          <a:xfrm>
            <a:off x="5074920" y="5696712"/>
            <a:ext cx="1280160" cy="274320"/>
          </a:xfrm>
          <a:prstGeom prst="rect">
            <a:avLst/>
          </a:prstGeom>
          <a:noFill/>
          <a:ln/>
        </p:spPr>
        <p:txBody>
          <a:bodyPr wrap="square" lIns="0" tIns="0" rIns="0" bIns="0" rtlCol="0" anchor="ctr"/>
          <a:lstStyle/>
          <a:p>
            <a:pPr algn="r" indent="0" marL="0">
              <a:buNone/>
            </a:pPr>
            <a:r>
              <a:rPr lang="en-US" sz="1100" b="1" dirty="0">
                <a:solidFill>
                  <a:srgbClr val="6B7C8C"/>
                </a:solidFill>
                <a:latin typeface="Arial" pitchFamily="34" charset="0"/>
                <a:ea typeface="Arial" pitchFamily="34" charset="-122"/>
                <a:cs typeface="Arial" pitchFamily="34" charset="-120"/>
              </a:rPr>
              <a:t>New, thin</a:t>
            </a:r>
            <a:endParaRPr lang="en-US" sz="1100" dirty="0"/>
          </a:p>
        </p:txBody>
      </p:sp>
      <p:sp>
        <p:nvSpPr>
          <p:cNvPr id="12" name="Shape 10"/>
          <p:cNvSpPr/>
          <p:nvPr/>
        </p:nvSpPr>
        <p:spPr>
          <a:xfrm>
            <a:off x="1463040" y="5394960"/>
            <a:ext cx="182880" cy="182880"/>
          </a:xfrm>
          <a:prstGeom prst="ellipse">
            <a:avLst/>
          </a:prstGeom>
          <a:solidFill>
            <a:srgbClr val="EF4444"/>
          </a:solidFill>
          <a:ln/>
        </p:spPr>
      </p:sp>
      <p:sp>
        <p:nvSpPr>
          <p:cNvPr id="13" name="Shape 11"/>
          <p:cNvSpPr/>
          <p:nvPr/>
        </p:nvSpPr>
        <p:spPr>
          <a:xfrm>
            <a:off x="1828800" y="5029200"/>
            <a:ext cx="182880" cy="182880"/>
          </a:xfrm>
          <a:prstGeom prst="ellipse">
            <a:avLst/>
          </a:prstGeom>
          <a:solidFill>
            <a:srgbClr val="EF4444"/>
          </a:solidFill>
          <a:ln/>
        </p:spPr>
      </p:sp>
      <p:sp>
        <p:nvSpPr>
          <p:cNvPr id="14" name="Shape 12"/>
          <p:cNvSpPr/>
          <p:nvPr/>
        </p:nvSpPr>
        <p:spPr>
          <a:xfrm>
            <a:off x="1554480" y="2468880"/>
            <a:ext cx="182880" cy="182880"/>
          </a:xfrm>
          <a:prstGeom prst="ellipse">
            <a:avLst/>
          </a:prstGeom>
          <a:solidFill>
            <a:srgbClr val="F59E0B"/>
          </a:solidFill>
          <a:ln/>
        </p:spPr>
      </p:sp>
      <p:sp>
        <p:nvSpPr>
          <p:cNvPr id="15" name="Shape 13"/>
          <p:cNvSpPr/>
          <p:nvPr/>
        </p:nvSpPr>
        <p:spPr>
          <a:xfrm>
            <a:off x="2103120" y="2926080"/>
            <a:ext cx="182880" cy="182880"/>
          </a:xfrm>
          <a:prstGeom prst="ellipse">
            <a:avLst/>
          </a:prstGeom>
          <a:solidFill>
            <a:srgbClr val="F59E0B"/>
          </a:solidFill>
          <a:ln/>
        </p:spPr>
      </p:sp>
      <p:sp>
        <p:nvSpPr>
          <p:cNvPr id="16" name="Shape 14"/>
          <p:cNvSpPr/>
          <p:nvPr/>
        </p:nvSpPr>
        <p:spPr>
          <a:xfrm>
            <a:off x="5120640" y="2377440"/>
            <a:ext cx="182880" cy="182880"/>
          </a:xfrm>
          <a:prstGeom prst="ellipse">
            <a:avLst/>
          </a:prstGeom>
          <a:solidFill>
            <a:srgbClr val="22C55E"/>
          </a:solidFill>
          <a:ln/>
        </p:spPr>
      </p:sp>
      <p:sp>
        <p:nvSpPr>
          <p:cNvPr id="17" name="Shape 15"/>
          <p:cNvSpPr/>
          <p:nvPr/>
        </p:nvSpPr>
        <p:spPr>
          <a:xfrm>
            <a:off x="5486400" y="2834640"/>
            <a:ext cx="182880" cy="182880"/>
          </a:xfrm>
          <a:prstGeom prst="ellipse">
            <a:avLst/>
          </a:prstGeom>
          <a:solidFill>
            <a:srgbClr val="22D3EE"/>
          </a:solidFill>
          <a:ln/>
        </p:spPr>
      </p:sp>
      <p:sp>
        <p:nvSpPr>
          <p:cNvPr id="18" name="Shape 16"/>
          <p:cNvSpPr/>
          <p:nvPr/>
        </p:nvSpPr>
        <p:spPr>
          <a:xfrm>
            <a:off x="4663440" y="2743200"/>
            <a:ext cx="182880" cy="182880"/>
          </a:xfrm>
          <a:prstGeom prst="ellipse">
            <a:avLst/>
          </a:prstGeom>
          <a:solidFill>
            <a:srgbClr val="22C55E"/>
          </a:solidFill>
          <a:ln/>
        </p:spPr>
      </p:sp>
      <p:sp>
        <p:nvSpPr>
          <p:cNvPr id="19" name="Shape 17"/>
          <p:cNvSpPr/>
          <p:nvPr/>
        </p:nvSpPr>
        <p:spPr>
          <a:xfrm>
            <a:off x="5394960" y="5394960"/>
            <a:ext cx="182880" cy="182880"/>
          </a:xfrm>
          <a:prstGeom prst="ellipse">
            <a:avLst/>
          </a:prstGeom>
          <a:solidFill>
            <a:srgbClr val="6B7C8C"/>
          </a:solidFill>
          <a:ln/>
        </p:spPr>
      </p:sp>
      <p:sp>
        <p:nvSpPr>
          <p:cNvPr id="20" name="Shape 18"/>
          <p:cNvSpPr/>
          <p:nvPr/>
        </p:nvSpPr>
        <p:spPr>
          <a:xfrm>
            <a:off x="4206240" y="4023360"/>
            <a:ext cx="182880" cy="182880"/>
          </a:xfrm>
          <a:prstGeom prst="ellipse">
            <a:avLst/>
          </a:prstGeom>
          <a:solidFill>
            <a:srgbClr val="22D3EE"/>
          </a:solidFill>
          <a:ln/>
        </p:spPr>
      </p:sp>
      <p:sp>
        <p:nvSpPr>
          <p:cNvPr id="21" name="Text 19"/>
          <p:cNvSpPr/>
          <p:nvPr/>
        </p:nvSpPr>
        <p:spPr>
          <a:xfrm>
            <a:off x="6858000" y="2194560"/>
            <a:ext cx="4754880" cy="548640"/>
          </a:xfrm>
          <a:prstGeom prst="rect">
            <a:avLst/>
          </a:prstGeom>
          <a:noFill/>
          <a:ln/>
        </p:spPr>
        <p:txBody>
          <a:bodyPr wrap="square" lIns="0" tIns="0" rIns="0" bIns="0" rtlCol="0" anchor="ctr"/>
          <a:lstStyle/>
          <a:p>
            <a:pPr indent="0" marL="0">
              <a:buNone/>
            </a:pPr>
            <a:r>
              <a:rPr lang="en-US" sz="2300" b="1" dirty="0">
                <a:solidFill>
                  <a:srgbClr val="E6EDF3"/>
                </a:solidFill>
                <a:latin typeface="Arial" pitchFamily="34" charset="0"/>
                <a:ea typeface="Arial" pitchFamily="34" charset="-122"/>
                <a:cs typeface="Arial" pitchFamily="34" charset="-120"/>
              </a:rPr>
              <a:t>Know what you don't know.</a:t>
            </a:r>
            <a:endParaRPr lang="en-US" sz="2300" dirty="0"/>
          </a:p>
        </p:txBody>
      </p:sp>
      <p:sp>
        <p:nvSpPr>
          <p:cNvPr id="22" name="Text 20"/>
          <p:cNvSpPr/>
          <p:nvPr/>
        </p:nvSpPr>
        <p:spPr>
          <a:xfrm>
            <a:off x="6858000" y="2880360"/>
            <a:ext cx="4800600" cy="1371600"/>
          </a:xfrm>
          <a:prstGeom prst="rect">
            <a:avLst/>
          </a:prstGeom>
          <a:noFill/>
          <a:ln/>
        </p:spPr>
        <p:txBody>
          <a:bodyPr wrap="square" lIns="0" tIns="0" rIns="0" bIns="0" rtlCol="0" anchor="ctr"/>
          <a:lstStyle/>
          <a:p>
            <a:pPr indent="0" marL="0">
              <a:lnSpc>
                <a:spcPct val="112000"/>
              </a:lnSpc>
              <a:buNone/>
            </a:pPr>
            <a:r>
              <a:rPr lang="en-US" sz="1500" dirty="0">
                <a:solidFill>
                  <a:srgbClr val="9FB0C0"/>
                </a:solidFill>
                <a:latin typeface="Arial" pitchFamily="34" charset="0"/>
                <a:ea typeface="Arial" pitchFamily="34" charset="-122"/>
                <a:cs typeface="Arial" pitchFamily="34" charset="-120"/>
              </a:rPr>
              <a:t>Every asset is scored on how complete and how current its knowledge is — turning “we have lots of PDFs” into a measurable score and a ranked list of risks.</a:t>
            </a:r>
            <a:endParaRPr lang="en-US" sz="1500" dirty="0"/>
          </a:p>
        </p:txBody>
      </p:sp>
      <p:sp>
        <p:nvSpPr>
          <p:cNvPr id="23" name="Shape 21"/>
          <p:cNvSpPr/>
          <p:nvPr/>
        </p:nvSpPr>
        <p:spPr>
          <a:xfrm>
            <a:off x="6858000" y="4526280"/>
            <a:ext cx="4800600" cy="1097280"/>
          </a:xfrm>
          <a:prstGeom prst="roundRect">
            <a:avLst>
              <a:gd name="adj" fmla="val 8333"/>
            </a:avLst>
          </a:prstGeom>
          <a:solidFill>
            <a:srgbClr val="121821"/>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4" name="Text 22"/>
          <p:cNvSpPr/>
          <p:nvPr/>
        </p:nvSpPr>
        <p:spPr>
          <a:xfrm>
            <a:off x="7132320" y="4526280"/>
            <a:ext cx="4343400" cy="1097280"/>
          </a:xfrm>
          <a:prstGeom prst="rect">
            <a:avLst/>
          </a:prstGeom>
          <a:noFill/>
          <a:ln/>
        </p:spPr>
        <p:txBody>
          <a:bodyPr wrap="square" lIns="0" tIns="0" rIns="0" bIns="0" rtlCol="0" anchor="ctr"/>
          <a:lstStyle/>
          <a:p>
            <a:pPr indent="0" marL="0">
              <a:lnSpc>
                <a:spcPct val="105000"/>
              </a:lnSpc>
              <a:buNone/>
            </a:pPr>
            <a:r>
              <a:rPr lang="en-US" sz="1400" i="1" dirty="0">
                <a:solidFill>
                  <a:srgbClr val="9FB0C0"/>
                </a:solidFill>
                <a:latin typeface="Arial" pitchFamily="34" charset="0"/>
                <a:ea typeface="Arial" pitchFamily="34" charset="-122"/>
                <a:cs typeface="Arial" pitchFamily="34" charset="-120"/>
              </a:rPr>
              <a:t>In the live demo, plant coverage moves </a:t>
            </a:r>
            <a:pPr indent="0" marL="0">
              <a:lnSpc>
                <a:spcPct val="105000"/>
              </a:lnSpc>
              <a:buNone/>
            </a:pPr>
            <a:r>
              <a:rPr lang="en-US" sz="1400" b="1" i="1" dirty="0">
                <a:solidFill>
                  <a:srgbClr val="22D3EE"/>
                </a:solidFill>
                <a:latin typeface="Arial" pitchFamily="34" charset="0"/>
                <a:ea typeface="Arial" pitchFamily="34" charset="-122"/>
                <a:cs typeface="Arial" pitchFamily="34" charset="-120"/>
              </a:rPr>
              <a:t>54% → 61%</a:t>
            </a:r>
            <a:pPr indent="0" marL="0">
              <a:lnSpc>
                <a:spcPct val="105000"/>
              </a:lnSpc>
              <a:buNone/>
            </a:pPr>
            <a:r>
              <a:rPr lang="en-US" sz="1400" i="1" dirty="0">
                <a:solidFill>
                  <a:srgbClr val="9FB0C0"/>
                </a:solidFill>
                <a:latin typeface="Arial" pitchFamily="34" charset="0"/>
                <a:ea typeface="Arial" pitchFamily="34" charset="-122"/>
                <a:cs typeface="Arial" pitchFamily="34" charset="-120"/>
              </a:rPr>
              <a:t> as a single document is ingested.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BUSINESS IMPACT</a:t>
            </a:r>
            <a:endParaRPr lang="en-US" sz="1250" dirty="0"/>
          </a:p>
        </p:txBody>
      </p:sp>
      <p:sp>
        <p:nvSpPr>
          <p:cNvPr id="3" name="Text 1"/>
          <p:cNvSpPr/>
          <p:nvPr/>
        </p:nvSpPr>
        <p:spPr>
          <a:xfrm>
            <a:off x="548640" y="731520"/>
            <a:ext cx="11091672" cy="868680"/>
          </a:xfrm>
          <a:prstGeom prst="rect">
            <a:avLst/>
          </a:prstGeom>
          <a:noFill/>
          <a:ln/>
        </p:spPr>
        <p:txBody>
          <a:bodyPr wrap="square" lIns="0" tIns="0" rIns="0" bIns="0" rtlCol="0" anchor="t"/>
          <a:lstStyle/>
          <a:p>
            <a:pPr indent="0" marL="0">
              <a:buNone/>
            </a:pPr>
            <a:r>
              <a:rPr lang="en-US" sz="3300" b="1" dirty="0">
                <a:solidFill>
                  <a:srgbClr val="E6EDF3"/>
                </a:solidFill>
                <a:latin typeface="Arial" pitchFamily="34" charset="0"/>
                <a:ea typeface="Arial" pitchFamily="34" charset="-122"/>
                <a:cs typeface="Arial" pitchFamily="34" charset="-120"/>
              </a:rPr>
              <a:t>From buried documents to operational leverage</a:t>
            </a:r>
            <a:endParaRPr lang="en-US" sz="3300" dirty="0"/>
          </a:p>
        </p:txBody>
      </p:sp>
      <p:sp>
        <p:nvSpPr>
          <p:cNvPr id="4" name="Shape 2"/>
          <p:cNvSpPr/>
          <p:nvPr/>
        </p:nvSpPr>
        <p:spPr>
          <a:xfrm>
            <a:off x="548640" y="1874520"/>
            <a:ext cx="5422392" cy="2011680"/>
          </a:xfrm>
          <a:prstGeom prst="roundRect">
            <a:avLst>
              <a:gd name="adj" fmla="val 454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868680" y="2240280"/>
            <a:ext cx="731520" cy="731520"/>
          </a:xfrm>
          <a:prstGeom prst="ellipse">
            <a:avLst/>
          </a:prstGeom>
          <a:solidFill>
            <a:srgbClr val="0E2230"/>
          </a:solidFill>
          <a:ln w="15875">
            <a:solidFill>
              <a:srgbClr val="22D3EE"/>
            </a:solidFill>
            <a:prstDash val="solid"/>
          </a:ln>
        </p:spPr>
      </p:sp>
      <p:pic>
        <p:nvPicPr>
          <p:cNvPr id="6" name="Image 0" descr="preencoded.png">    </p:cNvPr>
          <p:cNvPicPr>
            <a:picLocks noChangeAspect="1"/>
          </p:cNvPicPr>
          <p:nvPr/>
        </p:nvPicPr>
        <p:blipFill>
          <a:blip r:embed="rId1"/>
          <a:stretch>
            <a:fillRect/>
          </a:stretch>
        </p:blipFill>
        <p:spPr>
          <a:xfrm>
            <a:off x="1044245" y="2415845"/>
            <a:ext cx="380390" cy="380390"/>
          </a:xfrm>
          <a:prstGeom prst="rect">
            <a:avLst/>
          </a:prstGeom>
        </p:spPr>
      </p:pic>
      <p:sp>
        <p:nvSpPr>
          <p:cNvPr id="7" name="Text 4"/>
          <p:cNvSpPr/>
          <p:nvPr/>
        </p:nvSpPr>
        <p:spPr>
          <a:xfrm>
            <a:off x="1828800" y="2258568"/>
            <a:ext cx="3867912" cy="68580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Faster root-cause</a:t>
            </a:r>
            <a:endParaRPr lang="en-US" sz="1900" dirty="0"/>
          </a:p>
        </p:txBody>
      </p:sp>
      <p:sp>
        <p:nvSpPr>
          <p:cNvPr id="8" name="Text 5"/>
          <p:cNvSpPr/>
          <p:nvPr/>
        </p:nvSpPr>
        <p:spPr>
          <a:xfrm>
            <a:off x="914400" y="3017520"/>
            <a:ext cx="4690872" cy="73152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Diagnoses in minutes what used to take days of digging.</a:t>
            </a:r>
            <a:endParaRPr lang="en-US" sz="1400" dirty="0"/>
          </a:p>
        </p:txBody>
      </p:sp>
      <p:sp>
        <p:nvSpPr>
          <p:cNvPr id="9" name="Shape 6"/>
          <p:cNvSpPr/>
          <p:nvPr/>
        </p:nvSpPr>
        <p:spPr>
          <a:xfrm>
            <a:off x="6217920" y="1874520"/>
            <a:ext cx="5422392" cy="2011680"/>
          </a:xfrm>
          <a:prstGeom prst="roundRect">
            <a:avLst>
              <a:gd name="adj" fmla="val 454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0" name="Shape 7"/>
          <p:cNvSpPr/>
          <p:nvPr/>
        </p:nvSpPr>
        <p:spPr>
          <a:xfrm>
            <a:off x="6537960" y="2240280"/>
            <a:ext cx="731520" cy="731520"/>
          </a:xfrm>
          <a:prstGeom prst="ellipse">
            <a:avLst/>
          </a:prstGeom>
          <a:solidFill>
            <a:srgbClr val="0E2230"/>
          </a:solidFill>
          <a:ln w="15875">
            <a:solidFill>
              <a:srgbClr val="22D3EE"/>
            </a:solidFill>
            <a:prstDash val="solid"/>
          </a:ln>
        </p:spPr>
      </p:sp>
      <p:pic>
        <p:nvPicPr>
          <p:cNvPr id="11" name="Image 1" descr="preencoded.png">    </p:cNvPr>
          <p:cNvPicPr>
            <a:picLocks noChangeAspect="1"/>
          </p:cNvPicPr>
          <p:nvPr/>
        </p:nvPicPr>
        <p:blipFill>
          <a:blip r:embed="rId2"/>
          <a:stretch>
            <a:fillRect/>
          </a:stretch>
        </p:blipFill>
        <p:spPr>
          <a:xfrm>
            <a:off x="6713525" y="2415845"/>
            <a:ext cx="380390" cy="380390"/>
          </a:xfrm>
          <a:prstGeom prst="rect">
            <a:avLst/>
          </a:prstGeom>
        </p:spPr>
      </p:pic>
      <p:sp>
        <p:nvSpPr>
          <p:cNvPr id="12" name="Text 8"/>
          <p:cNvSpPr/>
          <p:nvPr/>
        </p:nvSpPr>
        <p:spPr>
          <a:xfrm>
            <a:off x="7498080" y="2258568"/>
            <a:ext cx="3867912" cy="68580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Less downtime</a:t>
            </a:r>
            <a:endParaRPr lang="en-US" sz="1900" dirty="0"/>
          </a:p>
        </p:txBody>
      </p:sp>
      <p:sp>
        <p:nvSpPr>
          <p:cNvPr id="13" name="Text 9"/>
          <p:cNvSpPr/>
          <p:nvPr/>
        </p:nvSpPr>
        <p:spPr>
          <a:xfrm>
            <a:off x="6583680" y="3017520"/>
            <a:ext cx="4690872" cy="73152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Catch failures and conflicts before they force a shutdown.</a:t>
            </a:r>
            <a:endParaRPr lang="en-US" sz="1400" dirty="0"/>
          </a:p>
        </p:txBody>
      </p:sp>
      <p:sp>
        <p:nvSpPr>
          <p:cNvPr id="14" name="Shape 10"/>
          <p:cNvSpPr/>
          <p:nvPr/>
        </p:nvSpPr>
        <p:spPr>
          <a:xfrm>
            <a:off x="548640" y="4187952"/>
            <a:ext cx="5422392" cy="2011680"/>
          </a:xfrm>
          <a:prstGeom prst="roundRect">
            <a:avLst>
              <a:gd name="adj" fmla="val 454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5" name="Shape 11"/>
          <p:cNvSpPr/>
          <p:nvPr/>
        </p:nvSpPr>
        <p:spPr>
          <a:xfrm>
            <a:off x="868680" y="4553712"/>
            <a:ext cx="731520" cy="731520"/>
          </a:xfrm>
          <a:prstGeom prst="ellipse">
            <a:avLst/>
          </a:prstGeom>
          <a:solidFill>
            <a:srgbClr val="0E2230"/>
          </a:solidFill>
          <a:ln w="15875">
            <a:solidFill>
              <a:srgbClr val="22D3EE"/>
            </a:solidFill>
            <a:prstDash val="solid"/>
          </a:ln>
        </p:spPr>
      </p:sp>
      <p:pic>
        <p:nvPicPr>
          <p:cNvPr id="16" name="Image 2" descr="preencoded.png">    </p:cNvPr>
          <p:cNvPicPr>
            <a:picLocks noChangeAspect="1"/>
          </p:cNvPicPr>
          <p:nvPr/>
        </p:nvPicPr>
        <p:blipFill>
          <a:blip r:embed="rId3"/>
          <a:stretch>
            <a:fillRect/>
          </a:stretch>
        </p:blipFill>
        <p:spPr>
          <a:xfrm>
            <a:off x="1044245" y="4729277"/>
            <a:ext cx="380390" cy="380390"/>
          </a:xfrm>
          <a:prstGeom prst="rect">
            <a:avLst/>
          </a:prstGeom>
        </p:spPr>
      </p:pic>
      <p:sp>
        <p:nvSpPr>
          <p:cNvPr id="17" name="Text 12"/>
          <p:cNvSpPr/>
          <p:nvPr/>
        </p:nvSpPr>
        <p:spPr>
          <a:xfrm>
            <a:off x="1828800" y="4572000"/>
            <a:ext cx="3867912" cy="68580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Audit-ready compliance</a:t>
            </a:r>
            <a:endParaRPr lang="en-US" sz="1900" dirty="0"/>
          </a:p>
        </p:txBody>
      </p:sp>
      <p:sp>
        <p:nvSpPr>
          <p:cNvPr id="18" name="Text 13"/>
          <p:cNvSpPr/>
          <p:nvPr/>
        </p:nvSpPr>
        <p:spPr>
          <a:xfrm>
            <a:off x="914400" y="5330952"/>
            <a:ext cx="4690872" cy="73152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Every gap and every answer backed by a cited source.</a:t>
            </a:r>
            <a:endParaRPr lang="en-US" sz="1400" dirty="0"/>
          </a:p>
        </p:txBody>
      </p:sp>
      <p:sp>
        <p:nvSpPr>
          <p:cNvPr id="19" name="Shape 14"/>
          <p:cNvSpPr/>
          <p:nvPr/>
        </p:nvSpPr>
        <p:spPr>
          <a:xfrm>
            <a:off x="6217920" y="4187952"/>
            <a:ext cx="5422392" cy="2011680"/>
          </a:xfrm>
          <a:prstGeom prst="roundRect">
            <a:avLst>
              <a:gd name="adj" fmla="val 4545"/>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20" name="Shape 15"/>
          <p:cNvSpPr/>
          <p:nvPr/>
        </p:nvSpPr>
        <p:spPr>
          <a:xfrm>
            <a:off x="6537960" y="4553712"/>
            <a:ext cx="731520" cy="731520"/>
          </a:xfrm>
          <a:prstGeom prst="ellipse">
            <a:avLst/>
          </a:prstGeom>
          <a:solidFill>
            <a:srgbClr val="0E2230"/>
          </a:solidFill>
          <a:ln w="15875">
            <a:solidFill>
              <a:srgbClr val="22D3EE"/>
            </a:solidFill>
            <a:prstDash val="solid"/>
          </a:ln>
        </p:spPr>
      </p:sp>
      <p:pic>
        <p:nvPicPr>
          <p:cNvPr id="21" name="Image 3" descr="preencoded.png">    </p:cNvPr>
          <p:cNvPicPr>
            <a:picLocks noChangeAspect="1"/>
          </p:cNvPicPr>
          <p:nvPr/>
        </p:nvPicPr>
        <p:blipFill>
          <a:blip r:embed="rId4"/>
          <a:stretch>
            <a:fillRect/>
          </a:stretch>
        </p:blipFill>
        <p:spPr>
          <a:xfrm>
            <a:off x="6713525" y="4729277"/>
            <a:ext cx="380390" cy="380390"/>
          </a:xfrm>
          <a:prstGeom prst="rect">
            <a:avLst/>
          </a:prstGeom>
        </p:spPr>
      </p:pic>
      <p:sp>
        <p:nvSpPr>
          <p:cNvPr id="22" name="Text 16"/>
          <p:cNvSpPr/>
          <p:nvPr/>
        </p:nvSpPr>
        <p:spPr>
          <a:xfrm>
            <a:off x="7498080" y="4572000"/>
            <a:ext cx="3867912" cy="68580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Knowledge retained</a:t>
            </a:r>
            <a:endParaRPr lang="en-US" sz="1900" dirty="0"/>
          </a:p>
        </p:txBody>
      </p:sp>
      <p:sp>
        <p:nvSpPr>
          <p:cNvPr id="23" name="Text 17"/>
          <p:cNvSpPr/>
          <p:nvPr/>
        </p:nvSpPr>
        <p:spPr>
          <a:xfrm>
            <a:off x="6583680" y="5330952"/>
            <a:ext cx="4690872" cy="731520"/>
          </a:xfrm>
          <a:prstGeom prst="rect">
            <a:avLst/>
          </a:prstGeom>
          <a:noFill/>
          <a:ln/>
        </p:spPr>
        <p:txBody>
          <a:bodyPr wrap="square" lIns="0" tIns="0" rIns="0" bIns="0" rtlCol="0" anchor="ctr"/>
          <a:lstStyle/>
          <a:p>
            <a:pPr indent="0" marL="0">
              <a:lnSpc>
                <a:spcPct val="105000"/>
              </a:lnSpc>
              <a:buNone/>
            </a:pPr>
            <a:r>
              <a:rPr lang="en-US" sz="1400" dirty="0">
                <a:solidFill>
                  <a:srgbClr val="9FB0C0"/>
                </a:solidFill>
                <a:latin typeface="Arial" pitchFamily="34" charset="0"/>
                <a:ea typeface="Arial" pitchFamily="34" charset="-122"/>
                <a:cs typeface="Arial" pitchFamily="34" charset="-120"/>
              </a:rPr>
              <a:t>Retiring experts' know-how stays inside the brain.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SCALE &amp; TRUST</a:t>
            </a:r>
            <a:endParaRPr lang="en-US" sz="1250" dirty="0"/>
          </a:p>
        </p:txBody>
      </p:sp>
      <p:sp>
        <p:nvSpPr>
          <p:cNvPr id="3" name="Text 1"/>
          <p:cNvSpPr/>
          <p:nvPr/>
        </p:nvSpPr>
        <p:spPr>
          <a:xfrm>
            <a:off x="548640" y="731520"/>
            <a:ext cx="11091672" cy="868680"/>
          </a:xfrm>
          <a:prstGeom prst="rect">
            <a:avLst/>
          </a:prstGeom>
          <a:noFill/>
          <a:ln/>
        </p:spPr>
        <p:txBody>
          <a:bodyPr wrap="square" lIns="0" tIns="0" rIns="0" bIns="0" rtlCol="0" anchor="t"/>
          <a:lstStyle/>
          <a:p>
            <a:pPr indent="0" marL="0">
              <a:buNone/>
            </a:pPr>
            <a:r>
              <a:rPr lang="en-US" sz="3300" b="1" dirty="0">
                <a:solidFill>
                  <a:srgbClr val="E6EDF3"/>
                </a:solidFill>
                <a:latin typeface="Arial" pitchFamily="34" charset="0"/>
                <a:ea typeface="Arial" pitchFamily="34" charset="-122"/>
                <a:cs typeface="Arial" pitchFamily="34" charset="-120"/>
              </a:rPr>
              <a:t>Built to scale, built to trust</a:t>
            </a:r>
            <a:endParaRPr lang="en-US" sz="3300" dirty="0"/>
          </a:p>
        </p:txBody>
      </p:sp>
      <p:sp>
        <p:nvSpPr>
          <p:cNvPr id="4" name="Shape 2"/>
          <p:cNvSpPr/>
          <p:nvPr/>
        </p:nvSpPr>
        <p:spPr>
          <a:xfrm>
            <a:off x="548640" y="1874520"/>
            <a:ext cx="5422392" cy="4160520"/>
          </a:xfrm>
          <a:prstGeom prst="roundRect">
            <a:avLst>
              <a:gd name="adj" fmla="val 2198"/>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914400" y="2240280"/>
            <a:ext cx="731520" cy="731520"/>
          </a:xfrm>
          <a:prstGeom prst="ellipse">
            <a:avLst/>
          </a:prstGeom>
          <a:solidFill>
            <a:srgbClr val="0E2230"/>
          </a:solidFill>
          <a:ln w="15875">
            <a:solidFill>
              <a:srgbClr val="22D3EE"/>
            </a:solidFill>
            <a:prstDash val="solid"/>
          </a:ln>
        </p:spPr>
      </p:sp>
      <p:pic>
        <p:nvPicPr>
          <p:cNvPr id="6" name="Image 0" descr="preencoded.png">    </p:cNvPr>
          <p:cNvPicPr>
            <a:picLocks noChangeAspect="1"/>
          </p:cNvPicPr>
          <p:nvPr/>
        </p:nvPicPr>
        <p:blipFill>
          <a:blip r:embed="rId1"/>
          <a:stretch>
            <a:fillRect/>
          </a:stretch>
        </p:blipFill>
        <p:spPr>
          <a:xfrm>
            <a:off x="1089965" y="2415845"/>
            <a:ext cx="380390" cy="380390"/>
          </a:xfrm>
          <a:prstGeom prst="rect">
            <a:avLst/>
          </a:prstGeom>
        </p:spPr>
      </p:pic>
      <p:sp>
        <p:nvSpPr>
          <p:cNvPr id="7" name="Text 4"/>
          <p:cNvSpPr/>
          <p:nvPr/>
        </p:nvSpPr>
        <p:spPr>
          <a:xfrm>
            <a:off x="1874520" y="2258568"/>
            <a:ext cx="3959352" cy="685800"/>
          </a:xfrm>
          <a:prstGeom prst="rect">
            <a:avLst/>
          </a:prstGeom>
          <a:noFill/>
          <a:ln/>
        </p:spPr>
        <p:txBody>
          <a:bodyPr wrap="square" lIns="0" tIns="0" rIns="0" bIns="0" rtlCol="0" anchor="ctr"/>
          <a:lstStyle/>
          <a:p>
            <a:pPr indent="0" marL="0">
              <a:buNone/>
            </a:pPr>
            <a:r>
              <a:rPr lang="en-US" sz="2000" b="1" dirty="0">
                <a:solidFill>
                  <a:srgbClr val="E6EDF3"/>
                </a:solidFill>
                <a:latin typeface="Arial" pitchFamily="34" charset="0"/>
                <a:ea typeface="Arial" pitchFamily="34" charset="-122"/>
                <a:cs typeface="Arial" pitchFamily="34" charset="-120"/>
              </a:rPr>
              <a:t>Scales</a:t>
            </a:r>
            <a:endParaRPr lang="en-US" sz="2000" dirty="0"/>
          </a:p>
        </p:txBody>
      </p:sp>
      <p:sp>
        <p:nvSpPr>
          <p:cNvPr id="8" name="Text 5"/>
          <p:cNvSpPr/>
          <p:nvPr/>
        </p:nvSpPr>
        <p:spPr>
          <a:xfrm>
            <a:off x="960120" y="3200400"/>
            <a:ext cx="4645152" cy="265176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E6EDF3"/>
                </a:solidFill>
                <a:latin typeface="Arial" pitchFamily="34" charset="0"/>
                <a:ea typeface="Arial" pitchFamily="34" charset="-122"/>
                <a:cs typeface="Arial" pitchFamily="34" charset="-120"/>
              </a:rPr>
              <a:t>Stateless API &amp; workers autoscale horizontally</a:t>
            </a:r>
            <a:endParaRPr lang="en-US" sz="1500" dirty="0"/>
          </a:p>
          <a:p>
            <a:pPr marL="342900" indent="-342900">
              <a:spcAft>
                <a:spcPts val="1000"/>
              </a:spcAft>
              <a:buSzPct val="100000"/>
              <a:buChar char="•"/>
            </a:pPr>
            <a:r>
              <a:rPr lang="en-US" sz="1500" dirty="0">
                <a:solidFill>
                  <a:srgbClr val="E6EDF3"/>
                </a:solidFill>
                <a:latin typeface="Arial" pitchFamily="34" charset="0"/>
                <a:ea typeface="Arial" pitchFamily="34" charset="-122"/>
                <a:cs typeface="Arial" pitchFamily="34" charset="-120"/>
              </a:rPr>
              <a:t>Multi-plant, multi-tenant by design</a:t>
            </a:r>
            <a:endParaRPr lang="en-US" sz="1500" dirty="0"/>
          </a:p>
          <a:p>
            <a:pPr marL="342900" indent="-342900">
              <a:spcAft>
                <a:spcPts val="1000"/>
              </a:spcAft>
              <a:buSzPct val="100000"/>
              <a:buChar char="•"/>
            </a:pPr>
            <a:r>
              <a:rPr lang="en-US" sz="1500" dirty="0">
                <a:solidFill>
                  <a:srgbClr val="E6EDF3"/>
                </a:solidFill>
                <a:latin typeface="Arial" pitchFamily="34" charset="0"/>
                <a:ea typeface="Arial" pitchFamily="34" charset="-122"/>
                <a:cs typeface="Arial" pitchFamily="34" charset="-120"/>
              </a:rPr>
              <a:t>Sharded vectors + replicated data tier</a:t>
            </a:r>
            <a:endParaRPr lang="en-US" sz="1500" dirty="0"/>
          </a:p>
          <a:p>
            <a:pPr marL="342900" indent="-342900">
              <a:spcAft>
                <a:spcPts val="1000"/>
              </a:spcAft>
              <a:buSzPct val="100000"/>
              <a:buChar char="•"/>
            </a:pPr>
            <a:r>
              <a:rPr lang="en-US" sz="1500" dirty="0">
                <a:solidFill>
                  <a:srgbClr val="E6EDF3"/>
                </a:solidFill>
                <a:latin typeface="Arial" pitchFamily="34" charset="0"/>
                <a:ea typeface="Arial" pitchFamily="34" charset="-122"/>
                <a:cs typeface="Arial" pitchFamily="34" charset="-120"/>
              </a:rPr>
              <a:t>Any document type, any volume</a:t>
            </a:r>
            <a:endParaRPr lang="en-US" sz="1500" dirty="0"/>
          </a:p>
        </p:txBody>
      </p:sp>
      <p:sp>
        <p:nvSpPr>
          <p:cNvPr id="9" name="Shape 6"/>
          <p:cNvSpPr/>
          <p:nvPr/>
        </p:nvSpPr>
        <p:spPr>
          <a:xfrm>
            <a:off x="6217920" y="1874520"/>
            <a:ext cx="5422392" cy="4160520"/>
          </a:xfrm>
          <a:prstGeom prst="roundRect">
            <a:avLst>
              <a:gd name="adj" fmla="val 2198"/>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0" name="Shape 7"/>
          <p:cNvSpPr/>
          <p:nvPr/>
        </p:nvSpPr>
        <p:spPr>
          <a:xfrm>
            <a:off x="6583680" y="2240280"/>
            <a:ext cx="731520" cy="731520"/>
          </a:xfrm>
          <a:prstGeom prst="ellipse">
            <a:avLst/>
          </a:prstGeom>
          <a:solidFill>
            <a:srgbClr val="0E2230"/>
          </a:solidFill>
          <a:ln w="15875">
            <a:solidFill>
              <a:srgbClr val="22D3EE"/>
            </a:solidFill>
            <a:prstDash val="solid"/>
          </a:ln>
        </p:spPr>
      </p:sp>
      <p:pic>
        <p:nvPicPr>
          <p:cNvPr id="11" name="Image 1" descr="preencoded.png">    </p:cNvPr>
          <p:cNvPicPr>
            <a:picLocks noChangeAspect="1"/>
          </p:cNvPicPr>
          <p:nvPr/>
        </p:nvPicPr>
        <p:blipFill>
          <a:blip r:embed="rId2"/>
          <a:stretch>
            <a:fillRect/>
          </a:stretch>
        </p:blipFill>
        <p:spPr>
          <a:xfrm>
            <a:off x="6759245" y="2415845"/>
            <a:ext cx="380390" cy="380390"/>
          </a:xfrm>
          <a:prstGeom prst="rect">
            <a:avLst/>
          </a:prstGeom>
        </p:spPr>
      </p:pic>
      <p:sp>
        <p:nvSpPr>
          <p:cNvPr id="12" name="Text 8"/>
          <p:cNvSpPr/>
          <p:nvPr/>
        </p:nvSpPr>
        <p:spPr>
          <a:xfrm>
            <a:off x="7543800" y="2258568"/>
            <a:ext cx="3959352" cy="685800"/>
          </a:xfrm>
          <a:prstGeom prst="rect">
            <a:avLst/>
          </a:prstGeom>
          <a:noFill/>
          <a:ln/>
        </p:spPr>
        <p:txBody>
          <a:bodyPr wrap="square" lIns="0" tIns="0" rIns="0" bIns="0" rtlCol="0" anchor="ctr"/>
          <a:lstStyle/>
          <a:p>
            <a:pPr indent="0" marL="0">
              <a:buNone/>
            </a:pPr>
            <a:r>
              <a:rPr lang="en-US" sz="2000" b="1" dirty="0">
                <a:solidFill>
                  <a:srgbClr val="E6EDF3"/>
                </a:solidFill>
                <a:latin typeface="Arial" pitchFamily="34" charset="0"/>
                <a:ea typeface="Arial" pitchFamily="34" charset="-122"/>
                <a:cs typeface="Arial" pitchFamily="34" charset="-120"/>
              </a:rPr>
              <a:t>Trusted</a:t>
            </a:r>
            <a:endParaRPr lang="en-US" sz="2000" dirty="0"/>
          </a:p>
        </p:txBody>
      </p:sp>
      <p:sp>
        <p:nvSpPr>
          <p:cNvPr id="13" name="Text 9"/>
          <p:cNvSpPr/>
          <p:nvPr/>
        </p:nvSpPr>
        <p:spPr>
          <a:xfrm>
            <a:off x="6629400" y="3200400"/>
            <a:ext cx="4645152" cy="265176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E6EDF3"/>
                </a:solidFill>
                <a:latin typeface="Arial" pitchFamily="34" charset="0"/>
                <a:ea typeface="Arial" pitchFamily="34" charset="-122"/>
                <a:cs typeface="Arial" pitchFamily="34" charset="-120"/>
              </a:rPr>
              <a:t>Role-based access across five roles</a:t>
            </a:r>
            <a:endParaRPr lang="en-US" sz="1500" dirty="0"/>
          </a:p>
          <a:p>
            <a:pPr marL="342900" indent="-342900">
              <a:spcAft>
                <a:spcPts val="1000"/>
              </a:spcAft>
              <a:buSzPct val="100000"/>
              <a:buChar char="•"/>
            </a:pPr>
            <a:r>
              <a:rPr lang="en-US" sz="1500" dirty="0">
                <a:solidFill>
                  <a:srgbClr val="E6EDF3"/>
                </a:solidFill>
                <a:latin typeface="Arial" pitchFamily="34" charset="0"/>
                <a:ea typeface="Arial" pitchFamily="34" charset="-122"/>
                <a:cs typeface="Arial" pitchFamily="34" charset="-120"/>
              </a:rPr>
              <a:t>Full provenance — every fact cites its source</a:t>
            </a:r>
            <a:endParaRPr lang="en-US" sz="1500" dirty="0"/>
          </a:p>
          <a:p>
            <a:pPr marL="342900" indent="-342900">
              <a:spcAft>
                <a:spcPts val="1000"/>
              </a:spcAft>
              <a:buSzPct val="100000"/>
              <a:buChar char="•"/>
            </a:pPr>
            <a:r>
              <a:rPr lang="en-US" sz="1500" dirty="0">
                <a:solidFill>
                  <a:srgbClr val="E6EDF3"/>
                </a:solidFill>
                <a:latin typeface="Arial" pitchFamily="34" charset="0"/>
                <a:ea typeface="Arial" pitchFamily="34" charset="-122"/>
                <a:cs typeface="Arial" pitchFamily="34" charset="-120"/>
              </a:rPr>
              <a:t>Confidence scoring + safe abstention</a:t>
            </a:r>
            <a:endParaRPr lang="en-US" sz="1500" dirty="0"/>
          </a:p>
          <a:p>
            <a:pPr marL="342900" indent="-342900">
              <a:spcAft>
                <a:spcPts val="1000"/>
              </a:spcAft>
              <a:buSzPct val="100000"/>
              <a:buChar char="•"/>
            </a:pPr>
            <a:r>
              <a:rPr lang="en-US" sz="1500" dirty="0">
                <a:solidFill>
                  <a:srgbClr val="E6EDF3"/>
                </a:solidFill>
                <a:latin typeface="Arial" pitchFamily="34" charset="0"/>
                <a:ea typeface="Arial" pitchFamily="34" charset="-122"/>
                <a:cs typeface="Arial" pitchFamily="34" charset="-120"/>
              </a:rPr>
              <a:t>Complete, queryable audit log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411480"/>
            <a:ext cx="10972800" cy="292608"/>
          </a:xfrm>
          <a:prstGeom prst="rect">
            <a:avLst/>
          </a:prstGeom>
          <a:noFill/>
          <a:ln/>
        </p:spPr>
        <p:txBody>
          <a:bodyPr wrap="square" lIns="0" tIns="0" rIns="0" bIns="0" rtlCol="0" anchor="ctr"/>
          <a:lstStyle/>
          <a:p>
            <a:pPr indent="0" marL="0">
              <a:buNone/>
            </a:pPr>
            <a:r>
              <a:rPr lang="en-US" sz="1250" b="1" spc="300" kern="0" dirty="0">
                <a:solidFill>
                  <a:srgbClr val="22D3EE"/>
                </a:solidFill>
                <a:latin typeface="Arial" pitchFamily="34" charset="0"/>
                <a:ea typeface="Arial" pitchFamily="34" charset="-122"/>
                <a:cs typeface="Arial" pitchFamily="34" charset="-120"/>
              </a:rPr>
              <a:t>ROADMAP &amp; VISION</a:t>
            </a:r>
            <a:endParaRPr lang="en-US" sz="1250" dirty="0"/>
          </a:p>
        </p:txBody>
      </p:sp>
      <p:sp>
        <p:nvSpPr>
          <p:cNvPr id="3" name="Text 1"/>
          <p:cNvSpPr/>
          <p:nvPr/>
        </p:nvSpPr>
        <p:spPr>
          <a:xfrm>
            <a:off x="548640" y="731520"/>
            <a:ext cx="11091672" cy="868680"/>
          </a:xfrm>
          <a:prstGeom prst="rect">
            <a:avLst/>
          </a:prstGeom>
          <a:noFill/>
          <a:ln/>
        </p:spPr>
        <p:txBody>
          <a:bodyPr wrap="square" lIns="0" tIns="0" rIns="0" bIns="0" rtlCol="0" anchor="t"/>
          <a:lstStyle/>
          <a:p>
            <a:pPr indent="0" marL="0">
              <a:buNone/>
            </a:pPr>
            <a:r>
              <a:rPr lang="en-US" sz="3300" b="1" dirty="0">
                <a:solidFill>
                  <a:srgbClr val="E6EDF3"/>
                </a:solidFill>
                <a:latin typeface="Arial" pitchFamily="34" charset="0"/>
                <a:ea typeface="Arial" pitchFamily="34" charset="-122"/>
                <a:cs typeface="Arial" pitchFamily="34" charset="-120"/>
              </a:rPr>
              <a:t>Today the brain. Next, foresight.</a:t>
            </a:r>
            <a:endParaRPr lang="en-US" sz="3300" dirty="0"/>
          </a:p>
        </p:txBody>
      </p:sp>
      <p:sp>
        <p:nvSpPr>
          <p:cNvPr id="4" name="Shape 2"/>
          <p:cNvSpPr/>
          <p:nvPr/>
        </p:nvSpPr>
        <p:spPr>
          <a:xfrm>
            <a:off x="548640" y="2286000"/>
            <a:ext cx="3310128" cy="3200400"/>
          </a:xfrm>
          <a:prstGeom prst="roundRect">
            <a:avLst>
              <a:gd name="adj" fmla="val 2857"/>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5" name="Shape 3"/>
          <p:cNvSpPr/>
          <p:nvPr/>
        </p:nvSpPr>
        <p:spPr>
          <a:xfrm>
            <a:off x="868680" y="2606040"/>
            <a:ext cx="548640" cy="548640"/>
          </a:xfrm>
          <a:prstGeom prst="ellipse">
            <a:avLst/>
          </a:prstGeom>
          <a:solidFill>
            <a:srgbClr val="0E2230"/>
          </a:solidFill>
          <a:ln w="15875">
            <a:solidFill>
              <a:srgbClr val="22D3EE"/>
            </a:solidFill>
            <a:prstDash val="solid"/>
          </a:ln>
        </p:spPr>
      </p:sp>
      <p:sp>
        <p:nvSpPr>
          <p:cNvPr id="6" name="Text 4"/>
          <p:cNvSpPr/>
          <p:nvPr/>
        </p:nvSpPr>
        <p:spPr>
          <a:xfrm>
            <a:off x="868680" y="2606040"/>
            <a:ext cx="548640" cy="548640"/>
          </a:xfrm>
          <a:prstGeom prst="rect">
            <a:avLst/>
          </a:prstGeom>
          <a:noFill/>
          <a:ln/>
        </p:spPr>
        <p:txBody>
          <a:bodyPr wrap="square" lIns="0" tIns="0" rIns="0" bIns="0" rtlCol="0" anchor="ctr"/>
          <a:lstStyle/>
          <a:p>
            <a:pPr algn="ctr" indent="0" marL="0">
              <a:buNone/>
            </a:pPr>
            <a:r>
              <a:rPr lang="en-US" sz="1500" b="1" dirty="0">
                <a:solidFill>
                  <a:srgbClr val="22D3EE"/>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554480" y="2651760"/>
            <a:ext cx="2121408" cy="548640"/>
          </a:xfrm>
          <a:prstGeom prst="rect">
            <a:avLst/>
          </a:prstGeom>
          <a:noFill/>
          <a:ln/>
        </p:spPr>
        <p:txBody>
          <a:bodyPr wrap="square" lIns="0" tIns="0" rIns="0" bIns="0" rtlCol="0" anchor="ctr"/>
          <a:lstStyle/>
          <a:p>
            <a:pPr indent="0" marL="0">
              <a:buNone/>
            </a:pPr>
            <a:r>
              <a:rPr lang="en-US" sz="2000" b="1" dirty="0">
                <a:solidFill>
                  <a:srgbClr val="22D3EE"/>
                </a:solidFill>
                <a:latin typeface="Arial" pitchFamily="34" charset="0"/>
                <a:ea typeface="Arial" pitchFamily="34" charset="-122"/>
                <a:cs typeface="Arial" pitchFamily="34" charset="-120"/>
              </a:rPr>
              <a:t>Now</a:t>
            </a:r>
            <a:endParaRPr lang="en-US" sz="2000" dirty="0"/>
          </a:p>
        </p:txBody>
      </p:sp>
      <p:sp>
        <p:nvSpPr>
          <p:cNvPr id="8" name="Text 6"/>
          <p:cNvSpPr/>
          <p:nvPr/>
        </p:nvSpPr>
        <p:spPr>
          <a:xfrm>
            <a:off x="914400" y="3429000"/>
            <a:ext cx="2578608" cy="1828800"/>
          </a:xfrm>
          <a:prstGeom prst="rect">
            <a:avLst/>
          </a:prstGeom>
          <a:noFill/>
          <a:ln/>
        </p:spPr>
        <p:txBody>
          <a:bodyPr wrap="square" lIns="0" tIns="0" rIns="0" bIns="0" rtlCol="0" anchor="ctr"/>
          <a:lstStyle/>
          <a:p>
            <a:pPr indent="0" marL="0">
              <a:lnSpc>
                <a:spcPct val="112000"/>
              </a:lnSpc>
              <a:buNone/>
            </a:pPr>
            <a:r>
              <a:rPr lang="en-US" sz="1450" dirty="0">
                <a:solidFill>
                  <a:srgbClr val="9FB0C0"/>
                </a:solidFill>
                <a:latin typeface="Arial" pitchFamily="34" charset="0"/>
                <a:ea typeface="Arial" pitchFamily="34" charset="-122"/>
                <a:cs typeface="Arial" pitchFamily="34" charset="-120"/>
              </a:rPr>
              <a:t>The platform — ingest, graph and reason. Cited answers, RCA, compliance, and tribal capture.</a:t>
            </a:r>
            <a:endParaRPr lang="en-US" sz="1450" dirty="0"/>
          </a:p>
        </p:txBody>
      </p:sp>
      <p:sp>
        <p:nvSpPr>
          <p:cNvPr id="9" name="Text 7"/>
          <p:cNvSpPr/>
          <p:nvPr/>
        </p:nvSpPr>
        <p:spPr>
          <a:xfrm>
            <a:off x="3813048" y="3611880"/>
            <a:ext cx="548640" cy="548640"/>
          </a:xfrm>
          <a:prstGeom prst="rect">
            <a:avLst/>
          </a:prstGeom>
          <a:noFill/>
          <a:ln/>
        </p:spPr>
        <p:txBody>
          <a:bodyPr wrap="square" lIns="0" tIns="0" rIns="0" bIns="0" rtlCol="0" anchor="ctr"/>
          <a:lstStyle/>
          <a:p>
            <a:pPr algn="ctr" indent="0" marL="0">
              <a:buNone/>
            </a:pPr>
            <a:r>
              <a:rPr lang="en-US" sz="3000" b="1" dirty="0">
                <a:solidFill>
                  <a:srgbClr val="22D3EE"/>
                </a:solidFill>
                <a:latin typeface="Arial" pitchFamily="34" charset="0"/>
                <a:ea typeface="Arial" pitchFamily="34" charset="-122"/>
                <a:cs typeface="Arial" pitchFamily="34" charset="-120"/>
              </a:rPr>
              <a:t>→</a:t>
            </a:r>
            <a:endParaRPr lang="en-US" sz="3000" dirty="0"/>
          </a:p>
        </p:txBody>
      </p:sp>
      <p:sp>
        <p:nvSpPr>
          <p:cNvPr id="10" name="Shape 8"/>
          <p:cNvSpPr/>
          <p:nvPr/>
        </p:nvSpPr>
        <p:spPr>
          <a:xfrm>
            <a:off x="4315968" y="2286000"/>
            <a:ext cx="3310128" cy="3200400"/>
          </a:xfrm>
          <a:prstGeom prst="roundRect">
            <a:avLst>
              <a:gd name="adj" fmla="val 2857"/>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1" name="Shape 9"/>
          <p:cNvSpPr/>
          <p:nvPr/>
        </p:nvSpPr>
        <p:spPr>
          <a:xfrm>
            <a:off x="4636008" y="2606040"/>
            <a:ext cx="548640" cy="548640"/>
          </a:xfrm>
          <a:prstGeom prst="ellipse">
            <a:avLst/>
          </a:prstGeom>
          <a:solidFill>
            <a:srgbClr val="0E2230"/>
          </a:solidFill>
          <a:ln w="15875">
            <a:solidFill>
              <a:srgbClr val="22D3EE"/>
            </a:solidFill>
            <a:prstDash val="solid"/>
          </a:ln>
        </p:spPr>
      </p:sp>
      <p:sp>
        <p:nvSpPr>
          <p:cNvPr id="12" name="Text 10"/>
          <p:cNvSpPr/>
          <p:nvPr/>
        </p:nvSpPr>
        <p:spPr>
          <a:xfrm>
            <a:off x="4636008" y="2606040"/>
            <a:ext cx="548640" cy="548640"/>
          </a:xfrm>
          <a:prstGeom prst="rect">
            <a:avLst/>
          </a:prstGeom>
          <a:noFill/>
          <a:ln/>
        </p:spPr>
        <p:txBody>
          <a:bodyPr wrap="square" lIns="0" tIns="0" rIns="0" bIns="0" rtlCol="0" anchor="ctr"/>
          <a:lstStyle/>
          <a:p>
            <a:pPr algn="ctr" indent="0" marL="0">
              <a:buNone/>
            </a:pPr>
            <a:r>
              <a:rPr lang="en-US" sz="1500" b="1" dirty="0">
                <a:solidFill>
                  <a:srgbClr val="22D3EE"/>
                </a:solidFill>
                <a:latin typeface="Arial" pitchFamily="34" charset="0"/>
                <a:ea typeface="Arial" pitchFamily="34" charset="-122"/>
                <a:cs typeface="Arial" pitchFamily="34" charset="-120"/>
              </a:rPr>
              <a:t>2</a:t>
            </a:r>
            <a:endParaRPr lang="en-US" sz="1500" dirty="0"/>
          </a:p>
        </p:txBody>
      </p:sp>
      <p:sp>
        <p:nvSpPr>
          <p:cNvPr id="13" name="Text 11"/>
          <p:cNvSpPr/>
          <p:nvPr/>
        </p:nvSpPr>
        <p:spPr>
          <a:xfrm>
            <a:off x="5321808" y="2651760"/>
            <a:ext cx="2121408" cy="548640"/>
          </a:xfrm>
          <a:prstGeom prst="rect">
            <a:avLst/>
          </a:prstGeom>
          <a:noFill/>
          <a:ln/>
        </p:spPr>
        <p:txBody>
          <a:bodyPr wrap="square" lIns="0" tIns="0" rIns="0" bIns="0" rtlCol="0" anchor="ctr"/>
          <a:lstStyle/>
          <a:p>
            <a:pPr indent="0" marL="0">
              <a:buNone/>
            </a:pPr>
            <a:r>
              <a:rPr lang="en-US" sz="2000" b="1" dirty="0">
                <a:solidFill>
                  <a:srgbClr val="22D3EE"/>
                </a:solidFill>
                <a:latin typeface="Arial" pitchFamily="34" charset="0"/>
                <a:ea typeface="Arial" pitchFamily="34" charset="-122"/>
                <a:cs typeface="Arial" pitchFamily="34" charset="-120"/>
              </a:rPr>
              <a:t>Next</a:t>
            </a:r>
            <a:endParaRPr lang="en-US" sz="2000" dirty="0"/>
          </a:p>
        </p:txBody>
      </p:sp>
      <p:sp>
        <p:nvSpPr>
          <p:cNvPr id="14" name="Text 12"/>
          <p:cNvSpPr/>
          <p:nvPr/>
        </p:nvSpPr>
        <p:spPr>
          <a:xfrm>
            <a:off x="4681728" y="3429000"/>
            <a:ext cx="2578608" cy="1828800"/>
          </a:xfrm>
          <a:prstGeom prst="rect">
            <a:avLst/>
          </a:prstGeom>
          <a:noFill/>
          <a:ln/>
        </p:spPr>
        <p:txBody>
          <a:bodyPr wrap="square" lIns="0" tIns="0" rIns="0" bIns="0" rtlCol="0" anchor="ctr"/>
          <a:lstStyle/>
          <a:p>
            <a:pPr indent="0" marL="0">
              <a:lnSpc>
                <a:spcPct val="112000"/>
              </a:lnSpc>
              <a:buNone/>
            </a:pPr>
            <a:r>
              <a:rPr lang="en-US" sz="1450" dirty="0">
                <a:solidFill>
                  <a:srgbClr val="9FB0C0"/>
                </a:solidFill>
                <a:latin typeface="Arial" pitchFamily="34" charset="0"/>
                <a:ea typeface="Arial" pitchFamily="34" charset="-122"/>
                <a:cs typeface="Arial" pitchFamily="34" charset="-120"/>
              </a:rPr>
              <a:t>Predictive maintenance from graph patterns. IoT / sensor fusion. ERP &amp; CMMS connectors.</a:t>
            </a:r>
            <a:endParaRPr lang="en-US" sz="1450" dirty="0"/>
          </a:p>
        </p:txBody>
      </p:sp>
      <p:sp>
        <p:nvSpPr>
          <p:cNvPr id="15" name="Text 13"/>
          <p:cNvSpPr/>
          <p:nvPr/>
        </p:nvSpPr>
        <p:spPr>
          <a:xfrm>
            <a:off x="7580376" y="3611880"/>
            <a:ext cx="548640" cy="548640"/>
          </a:xfrm>
          <a:prstGeom prst="rect">
            <a:avLst/>
          </a:prstGeom>
          <a:noFill/>
          <a:ln/>
        </p:spPr>
        <p:txBody>
          <a:bodyPr wrap="square" lIns="0" tIns="0" rIns="0" bIns="0" rtlCol="0" anchor="ctr"/>
          <a:lstStyle/>
          <a:p>
            <a:pPr algn="ctr" indent="0" marL="0">
              <a:buNone/>
            </a:pPr>
            <a:r>
              <a:rPr lang="en-US" sz="3000" b="1" dirty="0">
                <a:solidFill>
                  <a:srgbClr val="22D3EE"/>
                </a:solidFill>
                <a:latin typeface="Arial" pitchFamily="34" charset="0"/>
                <a:ea typeface="Arial" pitchFamily="34" charset="-122"/>
                <a:cs typeface="Arial" pitchFamily="34" charset="-120"/>
              </a:rPr>
              <a:t>→</a:t>
            </a:r>
            <a:endParaRPr lang="en-US" sz="3000" dirty="0"/>
          </a:p>
        </p:txBody>
      </p:sp>
      <p:sp>
        <p:nvSpPr>
          <p:cNvPr id="16" name="Shape 14"/>
          <p:cNvSpPr/>
          <p:nvPr/>
        </p:nvSpPr>
        <p:spPr>
          <a:xfrm>
            <a:off x="8083296" y="2286000"/>
            <a:ext cx="3310128" cy="3200400"/>
          </a:xfrm>
          <a:prstGeom prst="roundRect">
            <a:avLst>
              <a:gd name="adj" fmla="val 2857"/>
            </a:avLst>
          </a:prstGeom>
          <a:solidFill>
            <a:srgbClr val="172230"/>
          </a:solidFill>
          <a:ln w="9525">
            <a:solidFill>
              <a:srgbClr val="243244"/>
            </a:solidFill>
            <a:prstDash val="solid"/>
          </a:ln>
          <a:effectLst>
            <a:outerShdw sx="100000" sy="100000" kx="0" ky="0" algn="bl" rotWithShape="0" blurRad="114300" dist="38100" dir="5400000">
              <a:srgbClr val="000000">
                <a:alpha val="35000"/>
              </a:srgbClr>
            </a:outerShdw>
          </a:effectLst>
        </p:spPr>
      </p:sp>
      <p:sp>
        <p:nvSpPr>
          <p:cNvPr id="17" name="Shape 15"/>
          <p:cNvSpPr/>
          <p:nvPr/>
        </p:nvSpPr>
        <p:spPr>
          <a:xfrm>
            <a:off x="8403336" y="2606040"/>
            <a:ext cx="548640" cy="548640"/>
          </a:xfrm>
          <a:prstGeom prst="ellipse">
            <a:avLst/>
          </a:prstGeom>
          <a:solidFill>
            <a:srgbClr val="0E2230"/>
          </a:solidFill>
          <a:ln w="15875">
            <a:solidFill>
              <a:srgbClr val="22D3EE"/>
            </a:solidFill>
            <a:prstDash val="solid"/>
          </a:ln>
        </p:spPr>
      </p:sp>
      <p:sp>
        <p:nvSpPr>
          <p:cNvPr id="18" name="Text 16"/>
          <p:cNvSpPr/>
          <p:nvPr/>
        </p:nvSpPr>
        <p:spPr>
          <a:xfrm>
            <a:off x="8403336" y="2606040"/>
            <a:ext cx="548640" cy="548640"/>
          </a:xfrm>
          <a:prstGeom prst="rect">
            <a:avLst/>
          </a:prstGeom>
          <a:noFill/>
          <a:ln/>
        </p:spPr>
        <p:txBody>
          <a:bodyPr wrap="square" lIns="0" tIns="0" rIns="0" bIns="0" rtlCol="0" anchor="ctr"/>
          <a:lstStyle/>
          <a:p>
            <a:pPr algn="ctr" indent="0" marL="0">
              <a:buNone/>
            </a:pPr>
            <a:r>
              <a:rPr lang="en-US" sz="1500" b="1" dirty="0">
                <a:solidFill>
                  <a:srgbClr val="22D3EE"/>
                </a:solidFill>
                <a:latin typeface="Arial" pitchFamily="34" charset="0"/>
                <a:ea typeface="Arial" pitchFamily="34" charset="-122"/>
                <a:cs typeface="Arial" pitchFamily="34" charset="-120"/>
              </a:rPr>
              <a:t>3</a:t>
            </a:r>
            <a:endParaRPr lang="en-US" sz="1500" dirty="0"/>
          </a:p>
        </p:txBody>
      </p:sp>
      <p:sp>
        <p:nvSpPr>
          <p:cNvPr id="19" name="Text 17"/>
          <p:cNvSpPr/>
          <p:nvPr/>
        </p:nvSpPr>
        <p:spPr>
          <a:xfrm>
            <a:off x="9089136" y="2651760"/>
            <a:ext cx="2121408" cy="548640"/>
          </a:xfrm>
          <a:prstGeom prst="rect">
            <a:avLst/>
          </a:prstGeom>
          <a:noFill/>
          <a:ln/>
        </p:spPr>
        <p:txBody>
          <a:bodyPr wrap="square" lIns="0" tIns="0" rIns="0" bIns="0" rtlCol="0" anchor="ctr"/>
          <a:lstStyle/>
          <a:p>
            <a:pPr indent="0" marL="0">
              <a:buNone/>
            </a:pPr>
            <a:r>
              <a:rPr lang="en-US" sz="2000" b="1" dirty="0">
                <a:solidFill>
                  <a:srgbClr val="22D3EE"/>
                </a:solidFill>
                <a:latin typeface="Arial" pitchFamily="34" charset="0"/>
                <a:ea typeface="Arial" pitchFamily="34" charset="-122"/>
                <a:cs typeface="Arial" pitchFamily="34" charset="-120"/>
              </a:rPr>
              <a:t>Vision</a:t>
            </a:r>
            <a:endParaRPr lang="en-US" sz="2000" dirty="0"/>
          </a:p>
        </p:txBody>
      </p:sp>
      <p:sp>
        <p:nvSpPr>
          <p:cNvPr id="20" name="Text 18"/>
          <p:cNvSpPr/>
          <p:nvPr/>
        </p:nvSpPr>
        <p:spPr>
          <a:xfrm>
            <a:off x="8449056" y="3429000"/>
            <a:ext cx="2578608" cy="1828800"/>
          </a:xfrm>
          <a:prstGeom prst="rect">
            <a:avLst/>
          </a:prstGeom>
          <a:noFill/>
          <a:ln/>
        </p:spPr>
        <p:txBody>
          <a:bodyPr wrap="square" lIns="0" tIns="0" rIns="0" bIns="0" rtlCol="0" anchor="ctr"/>
          <a:lstStyle/>
          <a:p>
            <a:pPr indent="0" marL="0">
              <a:lnSpc>
                <a:spcPct val="112000"/>
              </a:lnSpc>
              <a:buNone/>
            </a:pPr>
            <a:r>
              <a:rPr lang="en-US" sz="1450" dirty="0">
                <a:solidFill>
                  <a:srgbClr val="9FB0C0"/>
                </a:solidFill>
                <a:latin typeface="Arial" pitchFamily="34" charset="0"/>
                <a:ea typeface="Arial" pitchFamily="34" charset="-122"/>
                <a:cs typeface="Arial" pitchFamily="34" charset="-120"/>
              </a:rPr>
              <a:t>The operational brain for every industrial site.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0881360" y="640080"/>
            <a:ext cx="146304" cy="146304"/>
          </a:xfrm>
          <a:prstGeom prst="ellipse">
            <a:avLst/>
          </a:prstGeom>
          <a:solidFill>
            <a:srgbClr val="22D3EE">
              <a:alpha val="45000"/>
            </a:srgbClr>
          </a:solidFill>
          <a:ln/>
        </p:spPr>
      </p:sp>
      <p:sp>
        <p:nvSpPr>
          <p:cNvPr id="3" name="Shape 1"/>
          <p:cNvSpPr/>
          <p:nvPr/>
        </p:nvSpPr>
        <p:spPr>
          <a:xfrm>
            <a:off x="11521440" y="1188720"/>
            <a:ext cx="91440" cy="91440"/>
          </a:xfrm>
          <a:prstGeom prst="ellipse">
            <a:avLst/>
          </a:prstGeom>
          <a:solidFill>
            <a:srgbClr val="22D3EE">
              <a:alpha val="45000"/>
            </a:srgbClr>
          </a:solidFill>
          <a:ln/>
        </p:spPr>
      </p:sp>
      <p:sp>
        <p:nvSpPr>
          <p:cNvPr id="4" name="Shape 2"/>
          <p:cNvSpPr/>
          <p:nvPr/>
        </p:nvSpPr>
        <p:spPr>
          <a:xfrm>
            <a:off x="10424160" y="1371600"/>
            <a:ext cx="91440" cy="91440"/>
          </a:xfrm>
          <a:prstGeom prst="ellipse">
            <a:avLst/>
          </a:prstGeom>
          <a:solidFill>
            <a:srgbClr val="22D3EE">
              <a:alpha val="45000"/>
            </a:srgbClr>
          </a:solidFill>
          <a:ln/>
        </p:spPr>
      </p:sp>
      <p:sp>
        <p:nvSpPr>
          <p:cNvPr id="5" name="Shape 3"/>
          <p:cNvSpPr/>
          <p:nvPr/>
        </p:nvSpPr>
        <p:spPr>
          <a:xfrm>
            <a:off x="11155680" y="1920240"/>
            <a:ext cx="146304" cy="146304"/>
          </a:xfrm>
          <a:prstGeom prst="ellipse">
            <a:avLst/>
          </a:prstGeom>
          <a:solidFill>
            <a:srgbClr val="22D3EE">
              <a:alpha val="45000"/>
            </a:srgbClr>
          </a:solidFill>
          <a:ln/>
        </p:spPr>
      </p:sp>
      <p:sp>
        <p:nvSpPr>
          <p:cNvPr id="6" name="Shape 4"/>
          <p:cNvSpPr/>
          <p:nvPr/>
        </p:nvSpPr>
        <p:spPr>
          <a:xfrm>
            <a:off x="9966960" y="914400"/>
            <a:ext cx="91440" cy="91440"/>
          </a:xfrm>
          <a:prstGeom prst="ellipse">
            <a:avLst/>
          </a:prstGeom>
          <a:solidFill>
            <a:srgbClr val="22D3EE">
              <a:alpha val="45000"/>
            </a:srgbClr>
          </a:solidFill>
          <a:ln/>
        </p:spPr>
      </p:sp>
      <p:sp>
        <p:nvSpPr>
          <p:cNvPr id="7" name="Shape 5"/>
          <p:cNvSpPr/>
          <p:nvPr/>
        </p:nvSpPr>
        <p:spPr>
          <a:xfrm>
            <a:off x="11704320" y="731520"/>
            <a:ext cx="91440" cy="91440"/>
          </a:xfrm>
          <a:prstGeom prst="ellipse">
            <a:avLst/>
          </a:prstGeom>
          <a:solidFill>
            <a:srgbClr val="22D3EE">
              <a:alpha val="45000"/>
            </a:srgbClr>
          </a:solidFill>
          <a:ln/>
        </p:spPr>
      </p:sp>
      <p:sp>
        <p:nvSpPr>
          <p:cNvPr id="8" name="Shape 6"/>
          <p:cNvSpPr/>
          <p:nvPr/>
        </p:nvSpPr>
        <p:spPr>
          <a:xfrm>
            <a:off x="10698480" y="2011680"/>
            <a:ext cx="146304" cy="146304"/>
          </a:xfrm>
          <a:prstGeom prst="ellipse">
            <a:avLst/>
          </a:prstGeom>
          <a:solidFill>
            <a:srgbClr val="22D3EE">
              <a:alpha val="45000"/>
            </a:srgbClr>
          </a:solidFill>
          <a:ln/>
        </p:spPr>
      </p:sp>
      <p:sp>
        <p:nvSpPr>
          <p:cNvPr id="9" name="Shape 7"/>
          <p:cNvSpPr/>
          <p:nvPr/>
        </p:nvSpPr>
        <p:spPr>
          <a:xfrm>
            <a:off x="10881360" y="713232"/>
            <a:ext cx="640080" cy="475488"/>
          </a:xfrm>
          <a:prstGeom prst="line">
            <a:avLst/>
          </a:prstGeom>
          <a:noFill/>
          <a:ln w="9525">
            <a:solidFill>
              <a:srgbClr val="22D3EE">
                <a:alpha val="30000"/>
              </a:srgbClr>
            </a:solidFill>
            <a:prstDash val="solid"/>
          </a:ln>
        </p:spPr>
      </p:sp>
      <p:sp>
        <p:nvSpPr>
          <p:cNvPr id="10" name="Shape 8"/>
          <p:cNvSpPr/>
          <p:nvPr/>
        </p:nvSpPr>
        <p:spPr>
          <a:xfrm>
            <a:off x="10881360" y="713232"/>
            <a:ext cx="-457200" cy="658368"/>
          </a:xfrm>
          <a:prstGeom prst="line">
            <a:avLst/>
          </a:prstGeom>
          <a:noFill/>
          <a:ln w="9525">
            <a:solidFill>
              <a:srgbClr val="22D3EE">
                <a:alpha val="30000"/>
              </a:srgbClr>
            </a:solidFill>
            <a:prstDash val="solid"/>
          </a:ln>
        </p:spPr>
      </p:sp>
      <p:sp>
        <p:nvSpPr>
          <p:cNvPr id="11" name="Shape 9"/>
          <p:cNvSpPr/>
          <p:nvPr/>
        </p:nvSpPr>
        <p:spPr>
          <a:xfrm>
            <a:off x="10424160" y="1371600"/>
            <a:ext cx="731520" cy="548640"/>
          </a:xfrm>
          <a:prstGeom prst="line">
            <a:avLst/>
          </a:prstGeom>
          <a:noFill/>
          <a:ln w="9525">
            <a:solidFill>
              <a:srgbClr val="22D3EE">
                <a:alpha val="30000"/>
              </a:srgbClr>
            </a:solidFill>
            <a:prstDash val="solid"/>
          </a:ln>
        </p:spPr>
      </p:sp>
      <p:sp>
        <p:nvSpPr>
          <p:cNvPr id="12" name="Shape 10"/>
          <p:cNvSpPr/>
          <p:nvPr/>
        </p:nvSpPr>
        <p:spPr>
          <a:xfrm>
            <a:off x="11521440" y="1188720"/>
            <a:ext cx="-365760" cy="731520"/>
          </a:xfrm>
          <a:prstGeom prst="line">
            <a:avLst/>
          </a:prstGeom>
          <a:noFill/>
          <a:ln w="9525">
            <a:solidFill>
              <a:srgbClr val="22D3EE">
                <a:alpha val="30000"/>
              </a:srgbClr>
            </a:solidFill>
            <a:prstDash val="solid"/>
          </a:ln>
        </p:spPr>
      </p:sp>
      <p:sp>
        <p:nvSpPr>
          <p:cNvPr id="13" name="Shape 11"/>
          <p:cNvSpPr/>
          <p:nvPr/>
        </p:nvSpPr>
        <p:spPr>
          <a:xfrm>
            <a:off x="9966960" y="960120"/>
            <a:ext cx="914400" cy="-246888"/>
          </a:xfrm>
          <a:prstGeom prst="line">
            <a:avLst/>
          </a:prstGeom>
          <a:noFill/>
          <a:ln w="9525">
            <a:solidFill>
              <a:srgbClr val="22D3EE">
                <a:alpha val="30000"/>
              </a:srgbClr>
            </a:solidFill>
            <a:prstDash val="solid"/>
          </a:ln>
        </p:spPr>
      </p:sp>
      <p:sp>
        <p:nvSpPr>
          <p:cNvPr id="14" name="Shape 12"/>
          <p:cNvSpPr/>
          <p:nvPr/>
        </p:nvSpPr>
        <p:spPr>
          <a:xfrm>
            <a:off x="548640" y="2011680"/>
            <a:ext cx="914400" cy="914400"/>
          </a:xfrm>
          <a:prstGeom prst="ellipse">
            <a:avLst/>
          </a:prstGeom>
          <a:solidFill>
            <a:srgbClr val="0E2230"/>
          </a:solidFill>
          <a:ln w="15875">
            <a:solidFill>
              <a:srgbClr val="22D3EE"/>
            </a:solidFill>
            <a:prstDash val="solid"/>
          </a:ln>
        </p:spPr>
      </p:sp>
      <p:pic>
        <p:nvPicPr>
          <p:cNvPr id="15" name="Image 0" descr="preencoded.png">    </p:cNvPr>
          <p:cNvPicPr>
            <a:picLocks noChangeAspect="1"/>
          </p:cNvPicPr>
          <p:nvPr/>
        </p:nvPicPr>
        <p:blipFill>
          <a:blip r:embed="rId1"/>
          <a:stretch>
            <a:fillRect/>
          </a:stretch>
        </p:blipFill>
        <p:spPr>
          <a:xfrm>
            <a:off x="768096" y="2231136"/>
            <a:ext cx="475488" cy="475488"/>
          </a:xfrm>
          <a:prstGeom prst="rect">
            <a:avLst/>
          </a:prstGeom>
        </p:spPr>
      </p:pic>
      <p:sp>
        <p:nvSpPr>
          <p:cNvPr id="16" name="Text 13"/>
          <p:cNvSpPr/>
          <p:nvPr/>
        </p:nvSpPr>
        <p:spPr>
          <a:xfrm>
            <a:off x="1627632" y="1965960"/>
            <a:ext cx="7772400" cy="1005840"/>
          </a:xfrm>
          <a:prstGeom prst="rect">
            <a:avLst/>
          </a:prstGeom>
          <a:noFill/>
          <a:ln/>
        </p:spPr>
        <p:txBody>
          <a:bodyPr wrap="square" lIns="0" tIns="0" rIns="0" bIns="0" rtlCol="0" anchor="ctr"/>
          <a:lstStyle/>
          <a:p>
            <a:pPr indent="0" marL="0">
              <a:buNone/>
            </a:pPr>
            <a:r>
              <a:rPr lang="en-US" sz="5000" b="1" dirty="0">
                <a:solidFill>
                  <a:srgbClr val="E6EDF3"/>
                </a:solidFill>
                <a:latin typeface="Arial" pitchFamily="34" charset="0"/>
                <a:ea typeface="Arial" pitchFamily="34" charset="-122"/>
                <a:cs typeface="Arial" pitchFamily="34" charset="-120"/>
              </a:rPr>
              <a:t>NEURON IQ</a:t>
            </a:r>
            <a:endParaRPr lang="en-US" sz="5000" dirty="0"/>
          </a:p>
        </p:txBody>
      </p:sp>
      <p:sp>
        <p:nvSpPr>
          <p:cNvPr id="17" name="Text 14"/>
          <p:cNvSpPr/>
          <p:nvPr/>
        </p:nvSpPr>
        <p:spPr>
          <a:xfrm>
            <a:off x="548640" y="3200400"/>
            <a:ext cx="10515600" cy="548640"/>
          </a:xfrm>
          <a:prstGeom prst="rect">
            <a:avLst/>
          </a:prstGeom>
          <a:noFill/>
          <a:ln/>
        </p:spPr>
        <p:txBody>
          <a:bodyPr wrap="square" lIns="0" tIns="0" rIns="0" bIns="0" rtlCol="0" anchor="ctr"/>
          <a:lstStyle/>
          <a:p>
            <a:pPr indent="0" marL="0">
              <a:buNone/>
            </a:pPr>
            <a:r>
              <a:rPr lang="en-US" sz="2400" i="1" dirty="0">
                <a:solidFill>
                  <a:srgbClr val="22D3EE"/>
                </a:solidFill>
                <a:latin typeface="Arial" pitchFamily="34" charset="0"/>
                <a:ea typeface="Arial" pitchFamily="34" charset="-122"/>
                <a:cs typeface="Arial" pitchFamily="34" charset="-120"/>
              </a:rPr>
              <a:t>Every Answer. Every Asset. Always Connected.</a:t>
            </a:r>
            <a:endParaRPr lang="en-US" sz="2400" dirty="0"/>
          </a:p>
        </p:txBody>
      </p:sp>
      <p:sp>
        <p:nvSpPr>
          <p:cNvPr id="18" name="Text 15"/>
          <p:cNvSpPr/>
          <p:nvPr/>
        </p:nvSpPr>
        <p:spPr>
          <a:xfrm>
            <a:off x="548640" y="3886200"/>
            <a:ext cx="10515600" cy="548640"/>
          </a:xfrm>
          <a:prstGeom prst="rect">
            <a:avLst/>
          </a:prstGeom>
          <a:noFill/>
          <a:ln/>
        </p:spPr>
        <p:txBody>
          <a:bodyPr wrap="square" lIns="0" tIns="0" rIns="0" bIns="0" rtlCol="0" anchor="ctr"/>
          <a:lstStyle/>
          <a:p>
            <a:pPr indent="0" marL="0">
              <a:buNone/>
            </a:pPr>
            <a:r>
              <a:rPr lang="en-US" sz="1500" dirty="0">
                <a:solidFill>
                  <a:srgbClr val="9FB0C0"/>
                </a:solidFill>
                <a:latin typeface="Arial" pitchFamily="34" charset="0"/>
                <a:ea typeface="Arial" pitchFamily="34" charset="-122"/>
                <a:cs typeface="Arial" pitchFamily="34" charset="-120"/>
              </a:rPr>
              <a:t>Ingested a document, caught a safety conflict, found a root cause, and preserved an expert — in five minutes.</a:t>
            </a:r>
            <a:endParaRPr lang="en-US" sz="1500" dirty="0"/>
          </a:p>
        </p:txBody>
      </p:sp>
      <p:sp>
        <p:nvSpPr>
          <p:cNvPr id="19" name="Text 16"/>
          <p:cNvSpPr/>
          <p:nvPr/>
        </p:nvSpPr>
        <p:spPr>
          <a:xfrm>
            <a:off x="548640" y="5486400"/>
            <a:ext cx="7315200" cy="365760"/>
          </a:xfrm>
          <a:prstGeom prst="rect">
            <a:avLst/>
          </a:prstGeom>
          <a:noFill/>
          <a:ln/>
        </p:spPr>
        <p:txBody>
          <a:bodyPr wrap="square" lIns="0" tIns="0" rIns="0" bIns="0" rtlCol="0" anchor="ctr"/>
          <a:lstStyle/>
          <a:p>
            <a:pPr indent="0" marL="0">
              <a:buNone/>
            </a:pPr>
            <a:r>
              <a:rPr lang="en-US" sz="1800" dirty="0">
                <a:solidFill>
                  <a:srgbClr val="9FB0C0"/>
                </a:solidFill>
                <a:latin typeface="Arial" pitchFamily="34" charset="0"/>
                <a:ea typeface="Arial" pitchFamily="34" charset="-122"/>
                <a:cs typeface="Arial" pitchFamily="34" charset="-120"/>
              </a:rPr>
              <a:t>Team:  </a:t>
            </a:r>
            <a:pPr indent="0" marL="0">
              <a:buNone/>
            </a:pPr>
            <a:r>
              <a:rPr lang="en-US" sz="1800" b="1" dirty="0">
                <a:solidFill>
                  <a:srgbClr val="E6EDF3"/>
                </a:solidFill>
                <a:latin typeface="Arial" pitchFamily="34" charset="0"/>
                <a:ea typeface="Arial" pitchFamily="34" charset="-122"/>
                <a:cs typeface="Arial" pitchFamily="34" charset="-120"/>
              </a:rPr>
              <a:t>Let's Do It</a:t>
            </a:r>
            <a:endParaRPr lang="en-US" sz="1800" dirty="0"/>
          </a:p>
        </p:txBody>
      </p:sp>
      <p:sp>
        <p:nvSpPr>
          <p:cNvPr id="20" name="Text 17"/>
          <p:cNvSpPr/>
          <p:nvPr/>
        </p:nvSpPr>
        <p:spPr>
          <a:xfrm>
            <a:off x="548640" y="5897880"/>
            <a:ext cx="10058400" cy="320040"/>
          </a:xfrm>
          <a:prstGeom prst="rect">
            <a:avLst/>
          </a:prstGeom>
          <a:noFill/>
          <a:ln/>
        </p:spPr>
        <p:txBody>
          <a:bodyPr wrap="square" lIns="0" tIns="0" rIns="0" bIns="0" rtlCol="0" anchor="ctr"/>
          <a:lstStyle/>
          <a:p>
            <a:pPr indent="0" marL="0">
              <a:buNone/>
            </a:pPr>
            <a:r>
              <a:rPr lang="en-US" sz="1400" dirty="0">
                <a:solidFill>
                  <a:srgbClr val="6B7C8C"/>
                </a:solidFill>
                <a:latin typeface="Arial" pitchFamily="34" charset="0"/>
                <a:ea typeface="Arial" pitchFamily="34" charset="-122"/>
                <a:cs typeface="Arial" pitchFamily="34" charset="-120"/>
              </a:rPr>
              <a:t>Thank you — happy to take your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NEURON IQ</dc:title>
  <dc:subject>PptxGenJS Presentation</dc:subject>
  <dc:creator>Team Let's Do It</dc:creator>
  <cp:lastModifiedBy>Team Let's Do It</cp:lastModifiedBy>
  <cp:revision>1</cp:revision>
  <dcterms:created xsi:type="dcterms:W3CDTF">2026-06-22T16:22:47Z</dcterms:created>
  <dcterms:modified xsi:type="dcterms:W3CDTF">2026-06-22T16:22:47Z</dcterms:modified>
</cp:coreProperties>
</file>